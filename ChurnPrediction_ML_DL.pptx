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73002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8951785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3535498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737929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8470683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39104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135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443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6562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3243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02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29418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248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5195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4432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229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248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43187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8053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5513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1828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986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1042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10409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87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448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9105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233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8828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2685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2574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24557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50843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6834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9408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0613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027416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4854868" name="Shape 1"/>
          <p:cNvSpPr/>
          <p:nvPr/>
        </p:nvSpPr>
        <p:spPr bwMode="auto">
          <a:xfrm>
            <a:off x="109728" y="2651760"/>
            <a:ext cx="9034272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69848719" name="Text 2"/>
          <p:cNvSpPr/>
          <p:nvPr/>
        </p:nvSpPr>
        <p:spPr bwMode="auto">
          <a:xfrm>
            <a:off x="365760" y="7315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Customer Churn Prediction</a:t>
            </a:r>
            <a:endParaRPr lang="en-US" sz="3800"/>
          </a:p>
        </p:txBody>
      </p:sp>
      <p:sp>
        <p:nvSpPr>
          <p:cNvPr id="433181246" name="Text 3"/>
          <p:cNvSpPr/>
          <p:nvPr/>
        </p:nvSpPr>
        <p:spPr bwMode="auto">
          <a:xfrm>
            <a:off x="365760" y="1691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Machine Learning &amp; Deep Learning Project</a:t>
            </a:r>
            <a:endParaRPr lang="en-US" sz="2000"/>
          </a:p>
        </p:txBody>
      </p:sp>
      <p:sp>
        <p:nvSpPr>
          <p:cNvPr id="534095198" name="Text 4"/>
          <p:cNvSpPr/>
          <p:nvPr/>
        </p:nvSpPr>
        <p:spPr bwMode="auto"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IBM Telco Customer Churn Dataset  ·  Classification Task</a:t>
            </a:r>
            <a:endParaRPr lang="en-US" sz="1400"/>
          </a:p>
        </p:txBody>
      </p:sp>
      <p:sp>
        <p:nvSpPr>
          <p:cNvPr id="979803011" name="Text 5"/>
          <p:cNvSpPr/>
          <p:nvPr/>
        </p:nvSpPr>
        <p:spPr bwMode="auto">
          <a:xfrm>
            <a:off x="365760" y="3259271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ML Models: Logistic Regression · Random Forest · XGBoost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DL Model: Artificial Neural Network (ANN)</a:t>
            </a:r>
            <a:endParaRPr lang="en-US" sz="1300"/>
          </a:p>
        </p:txBody>
      </p:sp>
      <p:sp>
        <p:nvSpPr>
          <p:cNvPr id="1864554438" name="Text 5"/>
          <p:cNvSpPr/>
          <p:nvPr/>
        </p:nvSpPr>
        <p:spPr bwMode="auto">
          <a:xfrm flipH="0" flipV="0">
            <a:off x="365759" y="3853632"/>
            <a:ext cx="8412480" cy="12898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Prepared By:</a:t>
            </a:r>
            <a:endParaRPr sz="1000">
              <a:solidFill>
                <a:srgbClr val="CBD5E1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  <a:defRPr/>
            </a:pPr>
            <a:r>
              <a:rPr lang="en-US" sz="1000" b="0" i="0" u="none" strike="noStrike" cap="none" spc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Abdallah Mohamed Fahmy,</a:t>
            </a:r>
            <a:endParaRPr sz="1000" b="0" i="0" u="none" strike="noStrike" cap="none" spc="0">
              <a:solidFill>
                <a:srgbClr val="CBD5E1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  <a:defRPr/>
            </a:pPr>
            <a:r>
              <a:rPr lang="en-US" sz="1000" b="0" i="0" u="none" strike="noStrike" cap="none" spc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Abdelrahman Mahmoud Ahmed,</a:t>
            </a:r>
            <a:endParaRPr sz="1000" b="0" i="0" u="none" strike="noStrike" cap="none" spc="0">
              <a:solidFill>
                <a:srgbClr val="CBD5E1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  <a:defRPr/>
            </a:pPr>
            <a:r>
              <a:rPr lang="en-US" sz="1000" b="0" i="0" u="none" strike="noStrike" cap="none" spc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Abdlrhman Hisham Ismail,</a:t>
            </a:r>
            <a:endParaRPr sz="1000" b="0" i="0" u="none" strike="noStrike" cap="none" spc="0">
              <a:solidFill>
                <a:srgbClr val="CBD5E1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  <a:defRPr/>
            </a:pPr>
            <a:r>
              <a:rPr lang="en-US" sz="1000" b="0" i="0" u="none" strike="noStrike" cap="none" spc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Amgad Mohamed Mohamed,</a:t>
            </a:r>
            <a:endParaRPr sz="1000" b="0" i="0" u="none" strike="noStrike" cap="none" spc="0">
              <a:solidFill>
                <a:srgbClr val="CBD5E1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  <a:defRPr/>
            </a:pPr>
            <a:r>
              <a:rPr lang="en-US" sz="1000" b="0" i="0" u="none" strike="noStrike" cap="none" spc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Omar Tarek Emam,</a:t>
            </a:r>
            <a:endParaRPr sz="1000" b="0" i="0" u="none" strike="noStrike" cap="none" spc="0">
              <a:solidFill>
                <a:srgbClr val="CBD5E1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  <a:defRPr/>
            </a:pPr>
            <a:r>
              <a:rPr lang="en-US" sz="1000" b="0" i="0" u="none" strike="noStrike" cap="none" spc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Zyad Atef.</a:t>
            </a:r>
            <a:endParaRPr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0F9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196872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04854747" name="Shape 1"/>
          <p:cNvSpPr/>
          <p:nvPr/>
        </p:nvSpPr>
        <p:spPr bwMode="auto">
          <a:xfrm>
            <a:off x="0" y="73152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2337355" name="Text 2"/>
          <p:cNvSpPr/>
          <p:nvPr/>
        </p:nvSpPr>
        <p:spPr bwMode="auto">
          <a:xfrm>
            <a:off x="274320" y="9144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Slide 2 — Introduction</a:t>
            </a:r>
            <a:endParaRPr lang="en-US" sz="2200"/>
          </a:p>
        </p:txBody>
      </p:sp>
      <p:sp>
        <p:nvSpPr>
          <p:cNvPr id="1758501399" name="Text 3"/>
          <p:cNvSpPr/>
          <p:nvPr/>
        </p:nvSpPr>
        <p:spPr bwMode="auto"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Background</a:t>
            </a:r>
            <a:endParaRPr lang="en-US" sz="1500"/>
          </a:p>
        </p:txBody>
      </p:sp>
      <p:sp>
        <p:nvSpPr>
          <p:cNvPr id="1413947106" name="Text 4"/>
          <p:cNvSpPr/>
          <p:nvPr/>
        </p:nvSpPr>
        <p:spPr bwMode="auto">
          <a:xfrm>
            <a:off x="365760" y="126187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Customer churn — when subscribers cancel their service — is one of the most costly problems in the telecom industry. Acquiring a new customer costs 5–25× more than retaining an existing one, making proactive churn prediction a high-value business capability.</a:t>
            </a:r>
            <a:endParaRPr lang="en-US" sz="1300"/>
          </a:p>
        </p:txBody>
      </p:sp>
      <p:sp>
        <p:nvSpPr>
          <p:cNvPr id="2106012559" name="Shape 5"/>
          <p:cNvSpPr/>
          <p:nvPr/>
        </p:nvSpPr>
        <p:spPr bwMode="auto">
          <a:xfrm>
            <a:off x="274320" y="2194560"/>
            <a:ext cx="2743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424367292" name="Text 6"/>
          <p:cNvSpPr/>
          <p:nvPr/>
        </p:nvSpPr>
        <p:spPr bwMode="auto">
          <a:xfrm>
            <a:off x="384048" y="22860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Revenue Protection</a:t>
            </a:r>
            <a:endParaRPr lang="en-US" sz="1200"/>
          </a:p>
        </p:txBody>
      </p:sp>
      <p:sp>
        <p:nvSpPr>
          <p:cNvPr id="1735838318" name="Text 7"/>
          <p:cNvSpPr/>
          <p:nvPr/>
        </p:nvSpPr>
        <p:spPr bwMode="auto">
          <a:xfrm>
            <a:off x="384048" y="2578608"/>
            <a:ext cx="2523744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Every churned customer represents lost recurring revenue. Identifying at-risk users before they leave enables targeted retention offers.</a:t>
            </a:r>
            <a:endParaRPr lang="en-US" sz="1100"/>
          </a:p>
        </p:txBody>
      </p:sp>
      <p:sp>
        <p:nvSpPr>
          <p:cNvPr id="641354774" name="Shape 8"/>
          <p:cNvSpPr/>
          <p:nvPr/>
        </p:nvSpPr>
        <p:spPr bwMode="auto">
          <a:xfrm>
            <a:off x="3172968" y="2194560"/>
            <a:ext cx="2743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366942458" name="Text 9"/>
          <p:cNvSpPr/>
          <p:nvPr/>
        </p:nvSpPr>
        <p:spPr bwMode="auto">
          <a:xfrm>
            <a:off x="3282696" y="22860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Data-Driven Retention</a:t>
            </a:r>
            <a:endParaRPr lang="en-US" sz="1200"/>
          </a:p>
        </p:txBody>
      </p:sp>
      <p:sp>
        <p:nvSpPr>
          <p:cNvPr id="11707856" name="Text 10"/>
          <p:cNvSpPr/>
          <p:nvPr/>
        </p:nvSpPr>
        <p:spPr bwMode="auto">
          <a:xfrm>
            <a:off x="3282696" y="2578608"/>
            <a:ext cx="2523744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Machine Learning models can detect subtle behavioral patterns across demographics, contract types, and usage patterns invisible to manual analysis.</a:t>
            </a:r>
            <a:endParaRPr lang="en-US" sz="1100"/>
          </a:p>
        </p:txBody>
      </p:sp>
      <p:sp>
        <p:nvSpPr>
          <p:cNvPr id="1111510771" name="Shape 11"/>
          <p:cNvSpPr/>
          <p:nvPr/>
        </p:nvSpPr>
        <p:spPr bwMode="auto">
          <a:xfrm>
            <a:off x="6071616" y="2194560"/>
            <a:ext cx="2743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660203688" name="Text 12"/>
          <p:cNvSpPr/>
          <p:nvPr/>
        </p:nvSpPr>
        <p:spPr bwMode="auto">
          <a:xfrm>
            <a:off x="6181344" y="22860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ML vs DL Tradeoff</a:t>
            </a:r>
            <a:endParaRPr lang="en-US" sz="1200"/>
          </a:p>
        </p:txBody>
      </p:sp>
      <p:sp>
        <p:nvSpPr>
          <p:cNvPr id="425089456" name="Text 13"/>
          <p:cNvSpPr/>
          <p:nvPr/>
        </p:nvSpPr>
        <p:spPr bwMode="auto">
          <a:xfrm>
            <a:off x="6181344" y="2578608"/>
            <a:ext cx="2523744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This project compares classical ML (Logistic Regression, RF, XGBoost) vs Deep Learning (ANN) to understand when each approach excels on tabular data.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0F9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488236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60522545" name="Shape 1"/>
          <p:cNvSpPr/>
          <p:nvPr/>
        </p:nvSpPr>
        <p:spPr bwMode="auto">
          <a:xfrm>
            <a:off x="0" y="73152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26554226" name="Text 2"/>
          <p:cNvSpPr/>
          <p:nvPr/>
        </p:nvSpPr>
        <p:spPr bwMode="auto">
          <a:xfrm>
            <a:off x="274320" y="9144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Slide 3 — Problem Statement</a:t>
            </a:r>
            <a:endParaRPr lang="en-US" sz="2200"/>
          </a:p>
        </p:txBody>
      </p:sp>
      <p:sp>
        <p:nvSpPr>
          <p:cNvPr id="1333698281" name="Shape 3"/>
          <p:cNvSpPr/>
          <p:nvPr/>
        </p:nvSpPr>
        <p:spPr bwMode="auto">
          <a:xfrm>
            <a:off x="274320" y="91440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19411291" name="Shape 4"/>
          <p:cNvSpPr/>
          <p:nvPr/>
        </p:nvSpPr>
        <p:spPr bwMode="auto">
          <a:xfrm>
            <a:off x="274320" y="914400"/>
            <a:ext cx="73152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42328142" name="Text 5"/>
          <p:cNvSpPr/>
          <p:nvPr/>
        </p:nvSpPr>
        <p:spPr bwMode="auto">
          <a:xfrm>
            <a:off x="475488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Task Type</a:t>
            </a:r>
            <a:endParaRPr lang="en-US" sz="1300"/>
          </a:p>
        </p:txBody>
      </p:sp>
      <p:sp>
        <p:nvSpPr>
          <p:cNvPr id="1157925530" name="Text 6"/>
          <p:cNvSpPr/>
          <p:nvPr/>
        </p:nvSpPr>
        <p:spPr bwMode="auto">
          <a:xfrm>
            <a:off x="475488" y="1353312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Binary Classification — predict whether a customer will churn (1) or stay (0).</a:t>
            </a:r>
            <a:endParaRPr lang="en-US" sz="1150"/>
          </a:p>
        </p:txBody>
      </p:sp>
      <p:sp>
        <p:nvSpPr>
          <p:cNvPr id="518629528" name="Shape 7"/>
          <p:cNvSpPr/>
          <p:nvPr/>
        </p:nvSpPr>
        <p:spPr bwMode="auto">
          <a:xfrm>
            <a:off x="4617720" y="91440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77553080" name="Shape 8"/>
          <p:cNvSpPr/>
          <p:nvPr/>
        </p:nvSpPr>
        <p:spPr bwMode="auto">
          <a:xfrm>
            <a:off x="4617720" y="914400"/>
            <a:ext cx="73152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39840963" name="Text 9"/>
          <p:cNvSpPr/>
          <p:nvPr/>
        </p:nvSpPr>
        <p:spPr bwMode="auto">
          <a:xfrm>
            <a:off x="4818888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Input Features</a:t>
            </a:r>
            <a:endParaRPr lang="en-US" sz="1300"/>
          </a:p>
        </p:txBody>
      </p:sp>
      <p:sp>
        <p:nvSpPr>
          <p:cNvPr id="124862974" name="Text 10"/>
          <p:cNvSpPr/>
          <p:nvPr/>
        </p:nvSpPr>
        <p:spPr bwMode="auto">
          <a:xfrm>
            <a:off x="4818888" y="1353312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0" i="0" u="none" strike="noStrike" cap="none" spc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20 features after cleaning: demographics (gender, senior citizen, partner, dependents), services (phone, internet, streaming, security), account info (contract, payment method, tenure, paperless billing), and financials (monthly &amp; total charges).</a:t>
            </a:r>
            <a:endParaRPr lang="en-US" sz="1150"/>
          </a:p>
        </p:txBody>
      </p:sp>
      <p:sp>
        <p:nvSpPr>
          <p:cNvPr id="632658617" name="Shape 11"/>
          <p:cNvSpPr/>
          <p:nvPr/>
        </p:nvSpPr>
        <p:spPr bwMode="auto">
          <a:xfrm>
            <a:off x="274320" y="288036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501045692" name="Shape 12"/>
          <p:cNvSpPr/>
          <p:nvPr/>
        </p:nvSpPr>
        <p:spPr bwMode="auto">
          <a:xfrm>
            <a:off x="274320" y="288036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06511779" name="Text 13"/>
          <p:cNvSpPr/>
          <p:nvPr/>
        </p:nvSpPr>
        <p:spPr bwMode="auto">
          <a:xfrm>
            <a:off x="475488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Target Variable</a:t>
            </a:r>
            <a:endParaRPr lang="en-US" sz="1300"/>
          </a:p>
        </p:txBody>
      </p:sp>
      <p:sp>
        <p:nvSpPr>
          <p:cNvPr id="1302060793" name="Text 14"/>
          <p:cNvSpPr/>
          <p:nvPr/>
        </p:nvSpPr>
        <p:spPr bwMode="auto">
          <a:xfrm>
            <a:off x="475488" y="3319272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Churn (Yes / No) — encoded as 1 / 0. Class imbalance: ~73.5% stay, ~26.5% churn.</a:t>
            </a:r>
            <a:endParaRPr lang="en-US" sz="1150"/>
          </a:p>
        </p:txBody>
      </p:sp>
      <p:sp>
        <p:nvSpPr>
          <p:cNvPr id="1498779462" name="Shape 15"/>
          <p:cNvSpPr/>
          <p:nvPr/>
        </p:nvSpPr>
        <p:spPr bwMode="auto">
          <a:xfrm>
            <a:off x="4617720" y="288036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963042307" name="Shape 16"/>
          <p:cNvSpPr/>
          <p:nvPr/>
        </p:nvSpPr>
        <p:spPr bwMode="auto">
          <a:xfrm>
            <a:off x="4617720" y="2880360"/>
            <a:ext cx="73152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99088630" name="Text 17"/>
          <p:cNvSpPr/>
          <p:nvPr/>
        </p:nvSpPr>
        <p:spPr bwMode="auto">
          <a:xfrm>
            <a:off x="4818888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Success Metrics</a:t>
            </a:r>
            <a:endParaRPr lang="en-US" sz="1300"/>
          </a:p>
        </p:txBody>
      </p:sp>
      <p:sp>
        <p:nvSpPr>
          <p:cNvPr id="1392455004" name="Text 18"/>
          <p:cNvSpPr/>
          <p:nvPr/>
        </p:nvSpPr>
        <p:spPr bwMode="auto">
          <a:xfrm>
            <a:off x="4818888" y="3319272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Primary: F1-Score (handles imbalance). Secondary: ROC-AUC (ranking quality) and Accuracy.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0F9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273910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44636626" name="Shape 1"/>
          <p:cNvSpPr/>
          <p:nvPr/>
        </p:nvSpPr>
        <p:spPr bwMode="auto">
          <a:xfrm>
            <a:off x="0" y="73152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71936467" name="Text 2"/>
          <p:cNvSpPr/>
          <p:nvPr/>
        </p:nvSpPr>
        <p:spPr bwMode="auto">
          <a:xfrm>
            <a:off x="274320" y="9144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Slide 4 — Dataset Description</a:t>
            </a:r>
            <a:endParaRPr lang="en-US" sz="2200"/>
          </a:p>
        </p:txBody>
      </p:sp>
      <p:sp>
        <p:nvSpPr>
          <p:cNvPr id="387435344" name="Shape 3"/>
          <p:cNvSpPr/>
          <p:nvPr/>
        </p:nvSpPr>
        <p:spPr bwMode="auto">
          <a:xfrm>
            <a:off x="274320" y="914400"/>
            <a:ext cx="192024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340643880" name="Text 4"/>
          <p:cNvSpPr/>
          <p:nvPr/>
        </p:nvSpPr>
        <p:spPr bwMode="auto">
          <a:xfrm>
            <a:off x="27432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7,043</a:t>
            </a:r>
            <a:endParaRPr lang="en-US" sz="2800"/>
          </a:p>
        </p:txBody>
      </p:sp>
      <p:sp>
        <p:nvSpPr>
          <p:cNvPr id="1616006345" name="Text 5"/>
          <p:cNvSpPr/>
          <p:nvPr/>
        </p:nvSpPr>
        <p:spPr bwMode="auto">
          <a:xfrm>
            <a:off x="27432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Total Rows</a:t>
            </a:r>
            <a:endParaRPr lang="en-US" sz="1200"/>
          </a:p>
        </p:txBody>
      </p:sp>
      <p:sp>
        <p:nvSpPr>
          <p:cNvPr id="1301383191" name="Shape 6"/>
          <p:cNvSpPr/>
          <p:nvPr/>
        </p:nvSpPr>
        <p:spPr bwMode="auto">
          <a:xfrm>
            <a:off x="2423160" y="914400"/>
            <a:ext cx="192024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893549660" name="Text 7"/>
          <p:cNvSpPr/>
          <p:nvPr/>
        </p:nvSpPr>
        <p:spPr bwMode="auto">
          <a:xfrm>
            <a:off x="242316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33</a:t>
            </a:r>
            <a:endParaRPr lang="en-US" sz="2800"/>
          </a:p>
        </p:txBody>
      </p:sp>
      <p:sp>
        <p:nvSpPr>
          <p:cNvPr id="2127164620" name="Text 8"/>
          <p:cNvSpPr/>
          <p:nvPr/>
        </p:nvSpPr>
        <p:spPr bwMode="auto">
          <a:xfrm>
            <a:off x="242316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Raw Columns</a:t>
            </a:r>
            <a:endParaRPr lang="en-US" sz="1200"/>
          </a:p>
        </p:txBody>
      </p:sp>
      <p:sp>
        <p:nvSpPr>
          <p:cNvPr id="1160742463" name="Shape 9"/>
          <p:cNvSpPr/>
          <p:nvPr/>
        </p:nvSpPr>
        <p:spPr bwMode="auto">
          <a:xfrm>
            <a:off x="4572000" y="914400"/>
            <a:ext cx="192024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036641207" name="Text 10"/>
          <p:cNvSpPr/>
          <p:nvPr/>
        </p:nvSpPr>
        <p:spPr bwMode="auto">
          <a:xfrm>
            <a:off x="457200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20</a:t>
            </a:r>
            <a:endParaRPr lang="en-US" sz="2800"/>
          </a:p>
        </p:txBody>
      </p:sp>
      <p:sp>
        <p:nvSpPr>
          <p:cNvPr id="1722717932" name="Text 11"/>
          <p:cNvSpPr/>
          <p:nvPr/>
        </p:nvSpPr>
        <p:spPr bwMode="auto">
          <a:xfrm>
            <a:off x="457200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Features Used</a:t>
            </a:r>
            <a:endParaRPr lang="en-US" sz="1200"/>
          </a:p>
        </p:txBody>
      </p:sp>
      <p:sp>
        <p:nvSpPr>
          <p:cNvPr id="1394551435" name="Shape 12"/>
          <p:cNvSpPr/>
          <p:nvPr/>
        </p:nvSpPr>
        <p:spPr bwMode="auto">
          <a:xfrm>
            <a:off x="6720840" y="914400"/>
            <a:ext cx="192024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366049345" name="Text 13"/>
          <p:cNvSpPr/>
          <p:nvPr/>
        </p:nvSpPr>
        <p:spPr bwMode="auto">
          <a:xfrm>
            <a:off x="672084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26.5%</a:t>
            </a:r>
            <a:endParaRPr lang="en-US" sz="2800"/>
          </a:p>
        </p:txBody>
      </p:sp>
      <p:sp>
        <p:nvSpPr>
          <p:cNvPr id="1530138203" name="Text 14"/>
          <p:cNvSpPr/>
          <p:nvPr/>
        </p:nvSpPr>
        <p:spPr bwMode="auto">
          <a:xfrm>
            <a:off x="672084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Churn Rate</a:t>
            </a:r>
            <a:endParaRPr lang="en-US" sz="1200"/>
          </a:p>
        </p:txBody>
      </p:sp>
      <p:sp>
        <p:nvSpPr>
          <p:cNvPr id="1333633412" name="Text 15"/>
          <p:cNvSpPr/>
          <p:nvPr/>
        </p:nvSpPr>
        <p:spPr bwMode="auto">
          <a:xfrm>
            <a:off x="274320" y="22402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Feature Groups</a:t>
            </a:r>
            <a:endParaRPr lang="en-US" sz="1400"/>
          </a:p>
        </p:txBody>
      </p:sp>
      <p:sp>
        <p:nvSpPr>
          <p:cNvPr id="710127665" name="Shape 16"/>
          <p:cNvSpPr/>
          <p:nvPr/>
        </p:nvSpPr>
        <p:spPr bwMode="auto">
          <a:xfrm>
            <a:off x="274320" y="260604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053005126" name="Text 17"/>
          <p:cNvSpPr/>
          <p:nvPr/>
        </p:nvSpPr>
        <p:spPr bwMode="auto">
          <a:xfrm>
            <a:off x="411480" y="2651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Demographics</a:t>
            </a:r>
            <a:endParaRPr lang="en-US" sz="1200"/>
          </a:p>
        </p:txBody>
      </p:sp>
      <p:sp>
        <p:nvSpPr>
          <p:cNvPr id="1930215850" name="Text 18"/>
          <p:cNvSpPr/>
          <p:nvPr/>
        </p:nvSpPr>
        <p:spPr bwMode="auto">
          <a:xfrm>
            <a:off x="411480" y="2926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gender, SeniorCitizen, Partner, Dependents</a:t>
            </a:r>
            <a:endParaRPr lang="en-US" sz="1000"/>
          </a:p>
        </p:txBody>
      </p:sp>
      <p:sp>
        <p:nvSpPr>
          <p:cNvPr id="1638078938" name="Shape 19"/>
          <p:cNvSpPr/>
          <p:nvPr/>
        </p:nvSpPr>
        <p:spPr bwMode="auto">
          <a:xfrm>
            <a:off x="4617720" y="260604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626594384" name="Text 20"/>
          <p:cNvSpPr/>
          <p:nvPr/>
        </p:nvSpPr>
        <p:spPr bwMode="auto">
          <a:xfrm>
            <a:off x="4754880" y="2651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Account Info</a:t>
            </a:r>
            <a:endParaRPr lang="en-US" sz="1200"/>
          </a:p>
        </p:txBody>
      </p:sp>
      <p:sp>
        <p:nvSpPr>
          <p:cNvPr id="247225573" name="Text 21"/>
          <p:cNvSpPr/>
          <p:nvPr/>
        </p:nvSpPr>
        <p:spPr bwMode="auto">
          <a:xfrm>
            <a:off x="4754880" y="2926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tenure, Contract, PaperlessBilling, PaymentMethod</a:t>
            </a:r>
            <a:endParaRPr lang="en-US" sz="1000"/>
          </a:p>
        </p:txBody>
      </p:sp>
      <p:sp>
        <p:nvSpPr>
          <p:cNvPr id="2140162619" name="Shape 22"/>
          <p:cNvSpPr/>
          <p:nvPr/>
        </p:nvSpPr>
        <p:spPr bwMode="auto">
          <a:xfrm>
            <a:off x="274320" y="374904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073451532" name="Text 23"/>
          <p:cNvSpPr/>
          <p:nvPr/>
        </p:nvSpPr>
        <p:spPr bwMode="auto">
          <a:xfrm>
            <a:off x="411480" y="3794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Services</a:t>
            </a:r>
            <a:endParaRPr lang="en-US" sz="1200"/>
          </a:p>
        </p:txBody>
      </p:sp>
      <p:sp>
        <p:nvSpPr>
          <p:cNvPr id="2087840478" name="Text 24"/>
          <p:cNvSpPr/>
          <p:nvPr/>
        </p:nvSpPr>
        <p:spPr bwMode="auto">
          <a:xfrm>
            <a:off x="411480" y="4069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PhoneService, MultipleLines, InternetService, OnlineSecurity, OnlineBackup, DeviceProtection, TechSupport, StreamingTV, StreamingMovies</a:t>
            </a:r>
            <a:endParaRPr lang="en-US" sz="1000"/>
          </a:p>
        </p:txBody>
      </p:sp>
      <p:sp>
        <p:nvSpPr>
          <p:cNvPr id="955252280" name="Shape 25"/>
          <p:cNvSpPr/>
          <p:nvPr/>
        </p:nvSpPr>
        <p:spPr bwMode="auto">
          <a:xfrm>
            <a:off x="4617720" y="374904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383910748" name="Text 26"/>
          <p:cNvSpPr/>
          <p:nvPr/>
        </p:nvSpPr>
        <p:spPr bwMode="auto">
          <a:xfrm>
            <a:off x="4754880" y="3794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Financials</a:t>
            </a:r>
            <a:endParaRPr lang="en-US" sz="1200"/>
          </a:p>
        </p:txBody>
      </p:sp>
      <p:sp>
        <p:nvSpPr>
          <p:cNvPr id="866867616" name="Text 27"/>
          <p:cNvSpPr/>
          <p:nvPr/>
        </p:nvSpPr>
        <p:spPr bwMode="auto">
          <a:xfrm>
            <a:off x="4754880" y="4069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MonthlyCharges, TotalCharges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0F9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77871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96743009" name="Shape 1"/>
          <p:cNvSpPr/>
          <p:nvPr/>
        </p:nvSpPr>
        <p:spPr bwMode="auto">
          <a:xfrm>
            <a:off x="0" y="73152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7812503" name="Text 2"/>
          <p:cNvSpPr/>
          <p:nvPr/>
        </p:nvSpPr>
        <p:spPr bwMode="auto">
          <a:xfrm>
            <a:off x="274320" y="9144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Slide 5 — Data Cleaning &amp; EDA</a:t>
            </a:r>
            <a:endParaRPr lang="en-US" sz="2200"/>
          </a:p>
        </p:txBody>
      </p:sp>
      <p:sp>
        <p:nvSpPr>
          <p:cNvPr id="2081301470" name="Text 3"/>
          <p:cNvSpPr/>
          <p:nvPr/>
        </p:nvSpPr>
        <p:spPr bwMode="auto">
          <a:xfrm>
            <a:off x="274320" y="914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Data Cleaning Steps</a:t>
            </a:r>
            <a:endParaRPr lang="en-US" sz="1400"/>
          </a:p>
        </p:txBody>
      </p:sp>
      <p:sp>
        <p:nvSpPr>
          <p:cNvPr id="1550216490" name="Shape 4"/>
          <p:cNvSpPr/>
          <p:nvPr/>
        </p:nvSpPr>
        <p:spPr bwMode="auto">
          <a:xfrm flipH="0" flipV="0">
            <a:off x="274319" y="1261872"/>
            <a:ext cx="3931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71302121" name="Text 5"/>
          <p:cNvSpPr/>
          <p:nvPr/>
        </p:nvSpPr>
        <p:spPr bwMode="auto">
          <a:xfrm flipH="0" flipV="0">
            <a:off x="384048" y="1307592"/>
            <a:ext cx="3712464" cy="15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TotalCharges Fix</a:t>
            </a:r>
            <a:endParaRPr lang="en-US" sz="1100"/>
          </a:p>
        </p:txBody>
      </p:sp>
      <p:sp>
        <p:nvSpPr>
          <p:cNvPr id="1447467539" name="Text 6"/>
          <p:cNvSpPr/>
          <p:nvPr/>
        </p:nvSpPr>
        <p:spPr bwMode="auto">
          <a:xfrm flipH="0" flipV="0">
            <a:off x="384048" y="1554480"/>
            <a:ext cx="3712464" cy="155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Loaded as object; coerced to numeric — 11 NaN rows dropped (7,043 → 7,032).</a:t>
            </a:r>
            <a:endParaRPr lang="en-US" sz="1000"/>
          </a:p>
        </p:txBody>
      </p:sp>
      <p:sp>
        <p:nvSpPr>
          <p:cNvPr id="642935031" name="Shape 7"/>
          <p:cNvSpPr/>
          <p:nvPr/>
        </p:nvSpPr>
        <p:spPr bwMode="auto">
          <a:xfrm flipH="0" flipV="0">
            <a:off x="274319" y="1911096"/>
            <a:ext cx="3931920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832676500" name="Text 8"/>
          <p:cNvSpPr/>
          <p:nvPr/>
        </p:nvSpPr>
        <p:spPr bwMode="auto">
          <a:xfrm flipH="0" flipV="0">
            <a:off x="384048" y="1956815"/>
            <a:ext cx="3712464" cy="147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Duplicates Removed</a:t>
            </a:r>
            <a:endParaRPr lang="en-US" sz="1100"/>
          </a:p>
        </p:txBody>
      </p:sp>
      <p:sp>
        <p:nvSpPr>
          <p:cNvPr id="2026942108" name="Text 9"/>
          <p:cNvSpPr/>
          <p:nvPr/>
        </p:nvSpPr>
        <p:spPr bwMode="auto">
          <a:xfrm flipH="0" flipV="0">
            <a:off x="384048" y="2203704"/>
            <a:ext cx="3712464" cy="183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No duplicates found. customerID column dropped as irrelevant to modeling.</a:t>
            </a:r>
            <a:endParaRPr lang="en-US" sz="1000"/>
          </a:p>
        </p:txBody>
      </p:sp>
      <p:sp>
        <p:nvSpPr>
          <p:cNvPr id="1211178048" name="Shape 10"/>
          <p:cNvSpPr/>
          <p:nvPr/>
        </p:nvSpPr>
        <p:spPr bwMode="auto">
          <a:xfrm flipH="0" flipV="0">
            <a:off x="274319" y="2596896"/>
            <a:ext cx="3931920" cy="63093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36802104" name="Text 11"/>
          <p:cNvSpPr/>
          <p:nvPr/>
        </p:nvSpPr>
        <p:spPr bwMode="auto">
          <a:xfrm>
            <a:off x="384048" y="2642615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Target Encoding</a:t>
            </a:r>
            <a:endParaRPr lang="en-US" sz="1100"/>
          </a:p>
        </p:txBody>
      </p:sp>
      <p:sp>
        <p:nvSpPr>
          <p:cNvPr id="2026509074" name="Text 12"/>
          <p:cNvSpPr/>
          <p:nvPr/>
        </p:nvSpPr>
        <p:spPr bwMode="auto">
          <a:xfrm flipH="0" flipV="0">
            <a:off x="384048" y="2889504"/>
            <a:ext cx="3712464" cy="3383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Churn column: 'Yes' → 1, 'No' → 0. Class split: 5,163 stay / 1,869 churn.</a:t>
            </a:r>
            <a:endParaRPr lang="en-US" sz="1000"/>
          </a:p>
        </p:txBody>
      </p:sp>
      <p:sp>
        <p:nvSpPr>
          <p:cNvPr id="239970695" name="Shape 13"/>
          <p:cNvSpPr/>
          <p:nvPr/>
        </p:nvSpPr>
        <p:spPr bwMode="auto">
          <a:xfrm>
            <a:off x="274320" y="3291839"/>
            <a:ext cx="3931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439161295" name="Text 14"/>
          <p:cNvSpPr/>
          <p:nvPr/>
        </p:nvSpPr>
        <p:spPr bwMode="auto">
          <a:xfrm>
            <a:off x="384048" y="3337560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i="0" u="none" strike="noStrike" cap="none" spc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Encoding &amp; Scaling</a:t>
            </a:r>
            <a:endParaRPr lang="en-US" sz="1100"/>
          </a:p>
        </p:txBody>
      </p:sp>
      <p:sp>
        <p:nvSpPr>
          <p:cNvPr id="202439852" name="Text 15"/>
          <p:cNvSpPr/>
          <p:nvPr/>
        </p:nvSpPr>
        <p:spPr bwMode="auto">
          <a:xfrm>
            <a:off x="384048" y="3584447"/>
            <a:ext cx="3712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600" b="0" i="0" u="none" strike="noStrike" cap="none" spc="0">
                <a:solidFill>
                  <a:srgbClr val="64748B"/>
                </a:solidFill>
                <a:latin typeface="Consola Mono"/>
                <a:ea typeface="Consola Mono"/>
                <a:cs typeface="Consola Mono"/>
              </a:rPr>
              <a:t>ColumnTransformer</a:t>
            </a:r>
            <a:r>
              <a:rPr lang="en-US" sz="600" b="0" i="0" u="none" strike="noStrike" cap="none" spc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 b="0" i="0" u="none" strike="noStrike" cap="none" spc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with </a:t>
            </a:r>
            <a:r>
              <a:rPr lang="en-US" sz="600" b="0" i="0" u="none" strike="noStrike" cap="none" spc="0">
                <a:solidFill>
                  <a:srgbClr val="64748B"/>
                </a:solidFill>
                <a:latin typeface="Consola Mono"/>
                <a:ea typeface="Consola Mono"/>
                <a:cs typeface="Consola Mono"/>
              </a:rPr>
              <a:t>OneHotEncoder(drop='if_binary')</a:t>
            </a:r>
            <a:r>
              <a:rPr lang="en-US" sz="900" b="0" i="0" u="none" strike="noStrike" cap="none" spc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n-US" sz="600" b="0" i="0" u="none" strike="noStrike" cap="none" spc="0">
                <a:solidFill>
                  <a:srgbClr val="64748B"/>
                </a:solidFill>
                <a:latin typeface="Consola Mono"/>
                <a:ea typeface="Consola Mono"/>
                <a:cs typeface="Consola Mono"/>
              </a:rPr>
              <a:t>StandardScaler</a:t>
            </a:r>
            <a:r>
              <a:rPr lang="en-US" sz="900" b="0" i="0" u="none" strike="noStrike" cap="none" spc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on continuous only, final shape 7,032 × 41 encoded (20 raw features → 41 encoded)</a:t>
            </a:r>
            <a:endParaRPr lang="en-US" sz="1000"/>
          </a:p>
        </p:txBody>
      </p:sp>
      <p:sp>
        <p:nvSpPr>
          <p:cNvPr id="1825490632" name="Text 16"/>
          <p:cNvSpPr/>
          <p:nvPr/>
        </p:nvSpPr>
        <p:spPr bwMode="auto">
          <a:xfrm>
            <a:off x="4480560" y="9144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Key EDA Insights</a:t>
            </a:r>
            <a:endParaRPr lang="en-US" sz="1400"/>
          </a:p>
        </p:txBody>
      </p:sp>
      <p:sp>
        <p:nvSpPr>
          <p:cNvPr id="10958496" name="Shape 17"/>
          <p:cNvSpPr/>
          <p:nvPr/>
        </p:nvSpPr>
        <p:spPr bwMode="auto">
          <a:xfrm>
            <a:off x="4480560" y="1261872"/>
            <a:ext cx="438912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307482713" name="Shape 18"/>
          <p:cNvSpPr/>
          <p:nvPr/>
        </p:nvSpPr>
        <p:spPr bwMode="auto">
          <a:xfrm>
            <a:off x="4480560" y="1261872"/>
            <a:ext cx="64008" cy="6675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4172111" name="Text 19"/>
          <p:cNvSpPr/>
          <p:nvPr/>
        </p:nvSpPr>
        <p:spPr bwMode="auto">
          <a:xfrm>
            <a:off x="4599432" y="1298448"/>
            <a:ext cx="416051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Short Tenure → High Churn</a:t>
            </a:r>
            <a:endParaRPr lang="en-US" sz="1100"/>
          </a:p>
        </p:txBody>
      </p:sp>
      <p:sp>
        <p:nvSpPr>
          <p:cNvPr id="209417560" name="Text 20"/>
          <p:cNvSpPr/>
          <p:nvPr/>
        </p:nvSpPr>
        <p:spPr bwMode="auto">
          <a:xfrm>
            <a:off x="4599432" y="1536192"/>
            <a:ext cx="41605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Customers in their first year (~0–12 months) churn at ~47% — the highest risk group.</a:t>
            </a:r>
            <a:endParaRPr lang="en-US" sz="1000"/>
          </a:p>
        </p:txBody>
      </p:sp>
      <p:sp>
        <p:nvSpPr>
          <p:cNvPr id="734161513" name="Shape 21"/>
          <p:cNvSpPr/>
          <p:nvPr/>
        </p:nvSpPr>
        <p:spPr bwMode="auto">
          <a:xfrm>
            <a:off x="4480560" y="2020824"/>
            <a:ext cx="438912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36555583" name="Shape 22"/>
          <p:cNvSpPr/>
          <p:nvPr/>
        </p:nvSpPr>
        <p:spPr bwMode="auto">
          <a:xfrm>
            <a:off x="4480560" y="2020824"/>
            <a:ext cx="64008" cy="6675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76509057" name="Text 23"/>
          <p:cNvSpPr/>
          <p:nvPr/>
        </p:nvSpPr>
        <p:spPr bwMode="auto">
          <a:xfrm>
            <a:off x="4599432" y="2057400"/>
            <a:ext cx="416051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Contract Type Matters</a:t>
            </a:r>
            <a:endParaRPr lang="en-US" sz="1100"/>
          </a:p>
        </p:txBody>
      </p:sp>
      <p:sp>
        <p:nvSpPr>
          <p:cNvPr id="1967006345" name="Text 24"/>
          <p:cNvSpPr/>
          <p:nvPr/>
        </p:nvSpPr>
        <p:spPr bwMode="auto">
          <a:xfrm>
            <a:off x="4599432" y="2295144"/>
            <a:ext cx="41605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Month-to-Month contracts: ~43% churn. Two-Year contracts: ~3% churn.</a:t>
            </a:r>
            <a:endParaRPr lang="en-US" sz="1000"/>
          </a:p>
        </p:txBody>
      </p:sp>
      <p:sp>
        <p:nvSpPr>
          <p:cNvPr id="151654411" name="Shape 25"/>
          <p:cNvSpPr/>
          <p:nvPr/>
        </p:nvSpPr>
        <p:spPr bwMode="auto">
          <a:xfrm>
            <a:off x="4480560" y="2779776"/>
            <a:ext cx="438912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786682732" name="Shape 26"/>
          <p:cNvSpPr/>
          <p:nvPr/>
        </p:nvSpPr>
        <p:spPr bwMode="auto">
          <a:xfrm>
            <a:off x="4480560" y="2779776"/>
            <a:ext cx="64008" cy="6675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9402253" name="Text 27"/>
          <p:cNvSpPr/>
          <p:nvPr/>
        </p:nvSpPr>
        <p:spPr bwMode="auto">
          <a:xfrm>
            <a:off x="4599432" y="2816352"/>
            <a:ext cx="416051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Monthly Charges</a:t>
            </a:r>
            <a:endParaRPr lang="en-US" sz="1100"/>
          </a:p>
        </p:txBody>
      </p:sp>
      <p:sp>
        <p:nvSpPr>
          <p:cNvPr id="1272250335" name="Text 28"/>
          <p:cNvSpPr/>
          <p:nvPr/>
        </p:nvSpPr>
        <p:spPr bwMode="auto">
          <a:xfrm>
            <a:off x="4599432" y="3054096"/>
            <a:ext cx="41605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Higher monthly charges correlate positively with churn probability.</a:t>
            </a:r>
            <a:endParaRPr lang="en-US" sz="1000"/>
          </a:p>
        </p:txBody>
      </p:sp>
      <p:sp>
        <p:nvSpPr>
          <p:cNvPr id="457824649" name="Shape 29"/>
          <p:cNvSpPr/>
          <p:nvPr/>
        </p:nvSpPr>
        <p:spPr bwMode="auto">
          <a:xfrm>
            <a:off x="4480560" y="3538728"/>
            <a:ext cx="438912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894610397" name="Shape 30"/>
          <p:cNvSpPr/>
          <p:nvPr/>
        </p:nvSpPr>
        <p:spPr bwMode="auto">
          <a:xfrm>
            <a:off x="4480560" y="3538728"/>
            <a:ext cx="64008" cy="6675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61324884" name="Text 31"/>
          <p:cNvSpPr/>
          <p:nvPr/>
        </p:nvSpPr>
        <p:spPr bwMode="auto">
          <a:xfrm>
            <a:off x="4599432" y="3575303"/>
            <a:ext cx="416051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Fiber Optic Users</a:t>
            </a:r>
            <a:endParaRPr lang="en-US" sz="1100"/>
          </a:p>
        </p:txBody>
      </p:sp>
      <p:sp>
        <p:nvSpPr>
          <p:cNvPr id="2031509158" name="Text 32"/>
          <p:cNvSpPr/>
          <p:nvPr/>
        </p:nvSpPr>
        <p:spPr bwMode="auto">
          <a:xfrm>
            <a:off x="4599432" y="3813048"/>
            <a:ext cx="41605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Fiber Optic internet users churn significantly more than DSL users.</a:t>
            </a:r>
            <a:endParaRPr lang="en-US" sz="1000"/>
          </a:p>
        </p:txBody>
      </p:sp>
      <p:sp>
        <p:nvSpPr>
          <p:cNvPr id="1305102228" name="Shape 33"/>
          <p:cNvSpPr/>
          <p:nvPr/>
        </p:nvSpPr>
        <p:spPr bwMode="auto">
          <a:xfrm>
            <a:off x="4480560" y="4297680"/>
            <a:ext cx="438912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335541255" name="Shape 34"/>
          <p:cNvSpPr/>
          <p:nvPr/>
        </p:nvSpPr>
        <p:spPr bwMode="auto">
          <a:xfrm>
            <a:off x="4480560" y="4297680"/>
            <a:ext cx="64008" cy="6675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84309206" name="Text 35"/>
          <p:cNvSpPr/>
          <p:nvPr/>
        </p:nvSpPr>
        <p:spPr bwMode="auto">
          <a:xfrm>
            <a:off x="4599432" y="4334256"/>
            <a:ext cx="416051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Imbalanced Dataset</a:t>
            </a:r>
            <a:endParaRPr lang="en-US" sz="1100"/>
          </a:p>
        </p:txBody>
      </p:sp>
      <p:sp>
        <p:nvSpPr>
          <p:cNvPr id="165059052" name="Text 36"/>
          <p:cNvSpPr/>
          <p:nvPr/>
        </p:nvSpPr>
        <p:spPr bwMode="auto">
          <a:xfrm>
            <a:off x="4599432" y="4572000"/>
            <a:ext cx="41605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73.5% stay vs 26.5% churn — F1-Score used as primary metric.</a:t>
            </a:r>
            <a:endParaRPr lang="en-US" sz="1000"/>
          </a:p>
        </p:txBody>
      </p:sp>
      <p:sp>
        <p:nvSpPr>
          <p:cNvPr id="1143133954" name="Shape 13"/>
          <p:cNvSpPr/>
          <p:nvPr/>
        </p:nvSpPr>
        <p:spPr bwMode="auto">
          <a:xfrm>
            <a:off x="274319" y="4206240"/>
            <a:ext cx="3931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814194626" name="Text 15"/>
          <p:cNvSpPr/>
          <p:nvPr/>
        </p:nvSpPr>
        <p:spPr bwMode="auto">
          <a:xfrm>
            <a:off x="384048" y="4535424"/>
            <a:ext cx="3712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600" b="0" i="0" u="none" strike="noStrike" cap="none" spc="0">
                <a:solidFill>
                  <a:srgbClr val="64748B"/>
                </a:solidFill>
                <a:latin typeface="Consola Mono"/>
                <a:ea typeface="Consola Mono"/>
                <a:cs typeface="Consola Mono"/>
              </a:rPr>
              <a:t>Country, State, City, Zip Code, Lat Long, Latitude, Longitude</a:t>
            </a:r>
            <a:r>
              <a:rPr lang="en-US" sz="1000" b="0" i="0" u="none" strike="noStrike" cap="none" spc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— prevented feature explosion (would have produced 1,000+ dummies).</a:t>
            </a:r>
            <a:endParaRPr lang="en-US" sz="1000"/>
          </a:p>
        </p:txBody>
      </p:sp>
      <p:sp>
        <p:nvSpPr>
          <p:cNvPr id="1096951166" name="Text 14"/>
          <p:cNvSpPr/>
          <p:nvPr/>
        </p:nvSpPr>
        <p:spPr bwMode="auto">
          <a:xfrm>
            <a:off x="384048" y="4297680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i="0" u="none" strike="noStrike" cap="none" spc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Geographic Cols Dropped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0F9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719420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3368239" name="Shape 1"/>
          <p:cNvSpPr/>
          <p:nvPr/>
        </p:nvSpPr>
        <p:spPr bwMode="auto">
          <a:xfrm>
            <a:off x="0" y="73152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22743655" name="Text 2"/>
          <p:cNvSpPr/>
          <p:nvPr/>
        </p:nvSpPr>
        <p:spPr bwMode="auto">
          <a:xfrm>
            <a:off x="274320" y="9144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Slide 6 — Methodology &amp; Pipeline</a:t>
            </a:r>
            <a:endParaRPr lang="en-US" sz="2200"/>
          </a:p>
        </p:txBody>
      </p:sp>
      <p:sp>
        <p:nvSpPr>
          <p:cNvPr id="448366055" name="Shape 3"/>
          <p:cNvSpPr/>
          <p:nvPr/>
        </p:nvSpPr>
        <p:spPr bwMode="auto">
          <a:xfrm>
            <a:off x="210312" y="777240"/>
            <a:ext cx="585216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90306648" name="Text 4"/>
          <p:cNvSpPr/>
          <p:nvPr/>
        </p:nvSpPr>
        <p:spPr bwMode="auto">
          <a:xfrm>
            <a:off x="210312" y="795528"/>
            <a:ext cx="585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400"/>
          </a:p>
        </p:txBody>
      </p:sp>
      <p:sp>
        <p:nvSpPr>
          <p:cNvPr id="1931597083" name="Text 5"/>
          <p:cNvSpPr/>
          <p:nvPr/>
        </p:nvSpPr>
        <p:spPr bwMode="auto">
          <a:xfrm>
            <a:off x="155448" y="135331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Problem</a:t>
            </a:r>
            <a:endParaRPr lang="en-US" sz="750"/>
          </a:p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Definition</a:t>
            </a:r>
            <a:endParaRPr lang="en-US" sz="750"/>
          </a:p>
        </p:txBody>
      </p:sp>
      <p:sp>
        <p:nvSpPr>
          <p:cNvPr id="304550051" name="Shape 6"/>
          <p:cNvSpPr/>
          <p:nvPr/>
        </p:nvSpPr>
        <p:spPr bwMode="auto">
          <a:xfrm>
            <a:off x="795528" y="1051560"/>
            <a:ext cx="25603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389743034" name="Shape 7"/>
          <p:cNvSpPr/>
          <p:nvPr/>
        </p:nvSpPr>
        <p:spPr bwMode="auto">
          <a:xfrm>
            <a:off x="1051560" y="777240"/>
            <a:ext cx="585216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86990219" name="Text 8"/>
          <p:cNvSpPr/>
          <p:nvPr/>
        </p:nvSpPr>
        <p:spPr bwMode="auto">
          <a:xfrm>
            <a:off x="1051560" y="795528"/>
            <a:ext cx="585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400"/>
          </a:p>
        </p:txBody>
      </p:sp>
      <p:sp>
        <p:nvSpPr>
          <p:cNvPr id="214876469" name="Text 9"/>
          <p:cNvSpPr/>
          <p:nvPr/>
        </p:nvSpPr>
        <p:spPr bwMode="auto">
          <a:xfrm>
            <a:off x="996696" y="135331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Data</a:t>
            </a:r>
            <a:endParaRPr lang="en-US" sz="750"/>
          </a:p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Reading</a:t>
            </a:r>
            <a:endParaRPr lang="en-US" sz="750"/>
          </a:p>
        </p:txBody>
      </p:sp>
      <p:sp>
        <p:nvSpPr>
          <p:cNvPr id="668467393" name="Shape 10"/>
          <p:cNvSpPr/>
          <p:nvPr/>
        </p:nvSpPr>
        <p:spPr bwMode="auto">
          <a:xfrm>
            <a:off x="1636776" y="1051560"/>
            <a:ext cx="25603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682074386" name="Shape 11"/>
          <p:cNvSpPr/>
          <p:nvPr/>
        </p:nvSpPr>
        <p:spPr bwMode="auto">
          <a:xfrm>
            <a:off x="1892808" y="777240"/>
            <a:ext cx="585216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935627" name="Text 12"/>
          <p:cNvSpPr/>
          <p:nvPr/>
        </p:nvSpPr>
        <p:spPr bwMode="auto">
          <a:xfrm>
            <a:off x="1892808" y="795528"/>
            <a:ext cx="585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400"/>
          </a:p>
        </p:txBody>
      </p:sp>
      <p:sp>
        <p:nvSpPr>
          <p:cNvPr id="641978987" name="Text 13"/>
          <p:cNvSpPr/>
          <p:nvPr/>
        </p:nvSpPr>
        <p:spPr bwMode="auto">
          <a:xfrm>
            <a:off x="1837944" y="135331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Data</a:t>
            </a:r>
            <a:endParaRPr lang="en-US" sz="750"/>
          </a:p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Cleaning</a:t>
            </a:r>
            <a:endParaRPr lang="en-US" sz="750"/>
          </a:p>
        </p:txBody>
      </p:sp>
      <p:sp>
        <p:nvSpPr>
          <p:cNvPr id="1706049864" name="Shape 14"/>
          <p:cNvSpPr/>
          <p:nvPr/>
        </p:nvSpPr>
        <p:spPr bwMode="auto">
          <a:xfrm>
            <a:off x="2478024" y="1051560"/>
            <a:ext cx="25603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528207811" name="Shape 15"/>
          <p:cNvSpPr/>
          <p:nvPr/>
        </p:nvSpPr>
        <p:spPr bwMode="auto">
          <a:xfrm>
            <a:off x="2734056" y="777240"/>
            <a:ext cx="585216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6700137" name="Text 16"/>
          <p:cNvSpPr/>
          <p:nvPr/>
        </p:nvSpPr>
        <p:spPr bwMode="auto">
          <a:xfrm>
            <a:off x="2734056" y="795528"/>
            <a:ext cx="585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400"/>
          </a:p>
        </p:txBody>
      </p:sp>
      <p:sp>
        <p:nvSpPr>
          <p:cNvPr id="1754072592" name="Text 17"/>
          <p:cNvSpPr/>
          <p:nvPr/>
        </p:nvSpPr>
        <p:spPr bwMode="auto">
          <a:xfrm>
            <a:off x="2679192" y="135331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EDA</a:t>
            </a:r>
            <a:endParaRPr lang="en-US" sz="750"/>
          </a:p>
        </p:txBody>
      </p:sp>
      <p:sp>
        <p:nvSpPr>
          <p:cNvPr id="1982122431" name="Shape 18"/>
          <p:cNvSpPr/>
          <p:nvPr/>
        </p:nvSpPr>
        <p:spPr bwMode="auto">
          <a:xfrm>
            <a:off x="3319272" y="1051560"/>
            <a:ext cx="25603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52824970" name="Shape 19"/>
          <p:cNvSpPr/>
          <p:nvPr/>
        </p:nvSpPr>
        <p:spPr bwMode="auto">
          <a:xfrm>
            <a:off x="3575303" y="777240"/>
            <a:ext cx="585216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76133656" name="Text 20"/>
          <p:cNvSpPr/>
          <p:nvPr/>
        </p:nvSpPr>
        <p:spPr bwMode="auto">
          <a:xfrm>
            <a:off x="3575303" y="795528"/>
            <a:ext cx="585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400"/>
          </a:p>
        </p:txBody>
      </p:sp>
      <p:sp>
        <p:nvSpPr>
          <p:cNvPr id="1621677204" name="Text 21"/>
          <p:cNvSpPr/>
          <p:nvPr/>
        </p:nvSpPr>
        <p:spPr bwMode="auto">
          <a:xfrm>
            <a:off x="3520440" y="135331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Preprocessing</a:t>
            </a:r>
            <a:endParaRPr lang="en-US" sz="750"/>
          </a:p>
        </p:txBody>
      </p:sp>
      <p:sp>
        <p:nvSpPr>
          <p:cNvPr id="1577005929" name="Shape 22"/>
          <p:cNvSpPr/>
          <p:nvPr/>
        </p:nvSpPr>
        <p:spPr bwMode="auto">
          <a:xfrm>
            <a:off x="4160519" y="1051560"/>
            <a:ext cx="25603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9744635" name="Shape 23"/>
          <p:cNvSpPr/>
          <p:nvPr/>
        </p:nvSpPr>
        <p:spPr bwMode="auto">
          <a:xfrm>
            <a:off x="4416552" y="777240"/>
            <a:ext cx="585216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4391764" name="Text 24"/>
          <p:cNvSpPr/>
          <p:nvPr/>
        </p:nvSpPr>
        <p:spPr bwMode="auto">
          <a:xfrm>
            <a:off x="4416552" y="795528"/>
            <a:ext cx="585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400"/>
          </a:p>
        </p:txBody>
      </p:sp>
      <p:sp>
        <p:nvSpPr>
          <p:cNvPr id="223236668" name="Text 25"/>
          <p:cNvSpPr/>
          <p:nvPr/>
        </p:nvSpPr>
        <p:spPr bwMode="auto">
          <a:xfrm>
            <a:off x="4361688" y="135331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Train/Test</a:t>
            </a:r>
            <a:endParaRPr lang="en-US" sz="750"/>
          </a:p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Split 80/20</a:t>
            </a:r>
            <a:endParaRPr lang="en-US" sz="750"/>
          </a:p>
        </p:txBody>
      </p:sp>
      <p:sp>
        <p:nvSpPr>
          <p:cNvPr id="270521928" name="Shape 26"/>
          <p:cNvSpPr/>
          <p:nvPr/>
        </p:nvSpPr>
        <p:spPr bwMode="auto">
          <a:xfrm>
            <a:off x="5001768" y="1051560"/>
            <a:ext cx="25603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2849351" name="Shape 27"/>
          <p:cNvSpPr/>
          <p:nvPr/>
        </p:nvSpPr>
        <p:spPr bwMode="auto">
          <a:xfrm>
            <a:off x="5257800" y="777240"/>
            <a:ext cx="585216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35420089" name="Text 28"/>
          <p:cNvSpPr/>
          <p:nvPr/>
        </p:nvSpPr>
        <p:spPr bwMode="auto">
          <a:xfrm>
            <a:off x="5257800" y="795528"/>
            <a:ext cx="585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400"/>
          </a:p>
        </p:txBody>
      </p:sp>
      <p:sp>
        <p:nvSpPr>
          <p:cNvPr id="529981242" name="Text 29"/>
          <p:cNvSpPr/>
          <p:nvPr/>
        </p:nvSpPr>
        <p:spPr bwMode="auto">
          <a:xfrm>
            <a:off x="5202936" y="135331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Model</a:t>
            </a:r>
            <a:endParaRPr lang="en-US" sz="750"/>
          </a:p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Building</a:t>
            </a:r>
            <a:endParaRPr lang="en-US" sz="750"/>
          </a:p>
        </p:txBody>
      </p:sp>
      <p:sp>
        <p:nvSpPr>
          <p:cNvPr id="1540437580" name="Shape 30"/>
          <p:cNvSpPr/>
          <p:nvPr/>
        </p:nvSpPr>
        <p:spPr bwMode="auto">
          <a:xfrm>
            <a:off x="5843016" y="1051560"/>
            <a:ext cx="25603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830088821" name="Shape 31"/>
          <p:cNvSpPr/>
          <p:nvPr/>
        </p:nvSpPr>
        <p:spPr bwMode="auto">
          <a:xfrm>
            <a:off x="6099048" y="777240"/>
            <a:ext cx="585216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0995720" name="Text 32"/>
          <p:cNvSpPr/>
          <p:nvPr/>
        </p:nvSpPr>
        <p:spPr bwMode="auto">
          <a:xfrm>
            <a:off x="6099048" y="795528"/>
            <a:ext cx="585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400"/>
          </a:p>
        </p:txBody>
      </p:sp>
      <p:sp>
        <p:nvSpPr>
          <p:cNvPr id="2079690711" name="Text 33"/>
          <p:cNvSpPr/>
          <p:nvPr/>
        </p:nvSpPr>
        <p:spPr bwMode="auto">
          <a:xfrm>
            <a:off x="6044184" y="135331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Evaluation</a:t>
            </a:r>
            <a:endParaRPr lang="en-US" sz="750"/>
          </a:p>
        </p:txBody>
      </p:sp>
      <p:sp>
        <p:nvSpPr>
          <p:cNvPr id="842849078" name="Shape 34"/>
          <p:cNvSpPr/>
          <p:nvPr/>
        </p:nvSpPr>
        <p:spPr bwMode="auto">
          <a:xfrm>
            <a:off x="6684264" y="1051560"/>
            <a:ext cx="25603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80551196" name="Shape 35"/>
          <p:cNvSpPr/>
          <p:nvPr/>
        </p:nvSpPr>
        <p:spPr bwMode="auto">
          <a:xfrm>
            <a:off x="6940296" y="777240"/>
            <a:ext cx="585216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77100513" name="Text 36"/>
          <p:cNvSpPr/>
          <p:nvPr/>
        </p:nvSpPr>
        <p:spPr bwMode="auto">
          <a:xfrm>
            <a:off x="6940296" y="795528"/>
            <a:ext cx="585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  <a:endParaRPr lang="en-US" sz="1400"/>
          </a:p>
        </p:txBody>
      </p:sp>
      <p:sp>
        <p:nvSpPr>
          <p:cNvPr id="1809659163" name="Text 37"/>
          <p:cNvSpPr/>
          <p:nvPr/>
        </p:nvSpPr>
        <p:spPr bwMode="auto">
          <a:xfrm>
            <a:off x="6885432" y="135331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Optimization</a:t>
            </a:r>
            <a:endParaRPr lang="en-US" sz="750"/>
          </a:p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(Tuning)</a:t>
            </a:r>
            <a:endParaRPr lang="en-US" sz="750"/>
          </a:p>
        </p:txBody>
      </p:sp>
      <p:sp>
        <p:nvSpPr>
          <p:cNvPr id="1409174752" name="Shape 38"/>
          <p:cNvSpPr/>
          <p:nvPr/>
        </p:nvSpPr>
        <p:spPr bwMode="auto">
          <a:xfrm>
            <a:off x="7525512" y="1051560"/>
            <a:ext cx="25603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100146166" name="Shape 39"/>
          <p:cNvSpPr/>
          <p:nvPr/>
        </p:nvSpPr>
        <p:spPr bwMode="auto">
          <a:xfrm>
            <a:off x="7781544" y="777240"/>
            <a:ext cx="585216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19346923" name="Text 40"/>
          <p:cNvSpPr/>
          <p:nvPr/>
        </p:nvSpPr>
        <p:spPr bwMode="auto">
          <a:xfrm>
            <a:off x="7781544" y="795528"/>
            <a:ext cx="585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400"/>
          </a:p>
        </p:txBody>
      </p:sp>
      <p:sp>
        <p:nvSpPr>
          <p:cNvPr id="674377007" name="Text 41"/>
          <p:cNvSpPr/>
          <p:nvPr/>
        </p:nvSpPr>
        <p:spPr bwMode="auto">
          <a:xfrm>
            <a:off x="7726680" y="135331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Final Model</a:t>
            </a:r>
            <a:endParaRPr lang="en-US" sz="750"/>
          </a:p>
          <a:p>
            <a:pPr marL="0" indent="0" algn="ctr">
              <a:buNone/>
              <a:defRPr/>
            </a:pPr>
            <a:r>
              <a:rPr lang="en-US" sz="7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Selection</a:t>
            </a:r>
            <a:endParaRPr lang="en-US" sz="750"/>
          </a:p>
        </p:txBody>
      </p:sp>
      <p:sp>
        <p:nvSpPr>
          <p:cNvPr id="1603081328" name="Text 42"/>
          <p:cNvSpPr/>
          <p:nvPr/>
        </p:nvSpPr>
        <p:spPr bwMode="auto">
          <a:xfrm>
            <a:off x="274320" y="2011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Models Used</a:t>
            </a:r>
            <a:endParaRPr lang="en-US" sz="1300"/>
          </a:p>
        </p:txBody>
      </p:sp>
      <p:sp>
        <p:nvSpPr>
          <p:cNvPr id="1561825514" name="Shape 43"/>
          <p:cNvSpPr/>
          <p:nvPr/>
        </p:nvSpPr>
        <p:spPr bwMode="auto">
          <a:xfrm>
            <a:off x="274320" y="2359152"/>
            <a:ext cx="4023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47478510" name="Text 44"/>
          <p:cNvSpPr/>
          <p:nvPr/>
        </p:nvSpPr>
        <p:spPr bwMode="auto">
          <a:xfrm>
            <a:off x="384048" y="23957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ML  Logistic Regression</a:t>
            </a:r>
            <a:endParaRPr lang="en-US" sz="1100"/>
          </a:p>
        </p:txBody>
      </p:sp>
      <p:sp>
        <p:nvSpPr>
          <p:cNvPr id="624569788" name="Text 45"/>
          <p:cNvSpPr/>
          <p:nvPr/>
        </p:nvSpPr>
        <p:spPr bwMode="auto">
          <a:xfrm>
            <a:off x="384048" y="26700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Baseline linear model with class_weight='balanced'</a:t>
            </a:r>
            <a:endParaRPr lang="en-US" sz="1000"/>
          </a:p>
        </p:txBody>
      </p:sp>
      <p:sp>
        <p:nvSpPr>
          <p:cNvPr id="1433893023" name="Shape 46"/>
          <p:cNvSpPr/>
          <p:nvPr/>
        </p:nvSpPr>
        <p:spPr bwMode="auto">
          <a:xfrm>
            <a:off x="274320" y="3182112"/>
            <a:ext cx="4023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354067632" name="Text 47"/>
          <p:cNvSpPr/>
          <p:nvPr/>
        </p:nvSpPr>
        <p:spPr bwMode="auto">
          <a:xfrm>
            <a:off x="384048" y="3218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ML  Random Forest</a:t>
            </a:r>
            <a:endParaRPr lang="en-US" sz="1100"/>
          </a:p>
        </p:txBody>
      </p:sp>
      <p:sp>
        <p:nvSpPr>
          <p:cNvPr id="422252727" name="Text 48"/>
          <p:cNvSpPr/>
          <p:nvPr/>
        </p:nvSpPr>
        <p:spPr bwMode="auto">
          <a:xfrm>
            <a:off x="384048" y="34930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200 trees, balanced weights; feature importance via Gini</a:t>
            </a:r>
            <a:endParaRPr lang="en-US" sz="1000"/>
          </a:p>
        </p:txBody>
      </p:sp>
      <p:sp>
        <p:nvSpPr>
          <p:cNvPr id="1769963271" name="Shape 49"/>
          <p:cNvSpPr/>
          <p:nvPr/>
        </p:nvSpPr>
        <p:spPr bwMode="auto">
          <a:xfrm>
            <a:off x="274320" y="4005072"/>
            <a:ext cx="4023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345066273" name="Text 50"/>
          <p:cNvSpPr/>
          <p:nvPr/>
        </p:nvSpPr>
        <p:spPr bwMode="auto">
          <a:xfrm>
            <a:off x="384048" y="4041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ML  XGBoost</a:t>
            </a:r>
            <a:endParaRPr lang="en-US" sz="1100"/>
          </a:p>
        </p:txBody>
      </p:sp>
      <p:sp>
        <p:nvSpPr>
          <p:cNvPr id="1931836586" name="Text 51"/>
          <p:cNvSpPr/>
          <p:nvPr/>
        </p:nvSpPr>
        <p:spPr bwMode="auto">
          <a:xfrm>
            <a:off x="384048" y="43159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Gradient boosting with scale_pos_weight for imbalance</a:t>
            </a:r>
            <a:endParaRPr lang="en-US" sz="1000"/>
          </a:p>
        </p:txBody>
      </p:sp>
      <p:sp>
        <p:nvSpPr>
          <p:cNvPr id="1920992126" name="Text 52"/>
          <p:cNvSpPr/>
          <p:nvPr/>
        </p:nvSpPr>
        <p:spPr bwMode="auto">
          <a:xfrm>
            <a:off x="4572000" y="201168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ANN Architecture</a:t>
            </a:r>
            <a:endParaRPr lang="en-US" sz="1300"/>
          </a:p>
        </p:txBody>
      </p:sp>
      <p:sp>
        <p:nvSpPr>
          <p:cNvPr id="1810950508" name="Shape 53"/>
          <p:cNvSpPr/>
          <p:nvPr/>
        </p:nvSpPr>
        <p:spPr bwMode="auto">
          <a:xfrm>
            <a:off x="4663440" y="2359152"/>
            <a:ext cx="420624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33103738" name="Text 54"/>
          <p:cNvSpPr/>
          <p:nvPr/>
        </p:nvSpPr>
        <p:spPr bwMode="auto">
          <a:xfrm>
            <a:off x="4754880" y="2395728"/>
            <a:ext cx="4023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0" i="0" u="none" strike="noStrike" cap="none" spc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Input layer (41 features</a:t>
            </a: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100"/>
          </a:p>
        </p:txBody>
      </p:sp>
      <p:sp>
        <p:nvSpPr>
          <p:cNvPr id="1699473946" name="Shape 55"/>
          <p:cNvSpPr/>
          <p:nvPr/>
        </p:nvSpPr>
        <p:spPr bwMode="auto">
          <a:xfrm>
            <a:off x="6766560" y="2788920"/>
            <a:ext cx="0" cy="914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950397936" name="Shape 56"/>
          <p:cNvSpPr/>
          <p:nvPr/>
        </p:nvSpPr>
        <p:spPr bwMode="auto">
          <a:xfrm>
            <a:off x="4663440" y="2880360"/>
            <a:ext cx="420624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07661436" name="Text 57"/>
          <p:cNvSpPr/>
          <p:nvPr/>
        </p:nvSpPr>
        <p:spPr bwMode="auto">
          <a:xfrm>
            <a:off x="4754880" y="2916936"/>
            <a:ext cx="4023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Dense 128 → BatchNorm → Dropout 0.3</a:t>
            </a:r>
            <a:endParaRPr lang="en-US" sz="1100"/>
          </a:p>
        </p:txBody>
      </p:sp>
      <p:sp>
        <p:nvSpPr>
          <p:cNvPr id="2095235651" name="Shape 58"/>
          <p:cNvSpPr/>
          <p:nvPr/>
        </p:nvSpPr>
        <p:spPr bwMode="auto">
          <a:xfrm>
            <a:off x="6766560" y="3310127"/>
            <a:ext cx="0" cy="914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42286722" name="Shape 59"/>
          <p:cNvSpPr/>
          <p:nvPr/>
        </p:nvSpPr>
        <p:spPr bwMode="auto">
          <a:xfrm>
            <a:off x="4663440" y="3401568"/>
            <a:ext cx="420624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1689472" name="Text 60"/>
          <p:cNvSpPr/>
          <p:nvPr/>
        </p:nvSpPr>
        <p:spPr bwMode="auto">
          <a:xfrm>
            <a:off x="4754880" y="3438144"/>
            <a:ext cx="4023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Dense 64 → BatchNorm → Dropout 0.3</a:t>
            </a:r>
            <a:endParaRPr lang="en-US" sz="1100"/>
          </a:p>
        </p:txBody>
      </p:sp>
      <p:sp>
        <p:nvSpPr>
          <p:cNvPr id="1323856187" name="Shape 61"/>
          <p:cNvSpPr/>
          <p:nvPr/>
        </p:nvSpPr>
        <p:spPr bwMode="auto">
          <a:xfrm>
            <a:off x="6766560" y="3831336"/>
            <a:ext cx="0" cy="914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18675439" name="Shape 62"/>
          <p:cNvSpPr/>
          <p:nvPr/>
        </p:nvSpPr>
        <p:spPr bwMode="auto">
          <a:xfrm>
            <a:off x="4663440" y="3922776"/>
            <a:ext cx="420624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337463" name="Text 63"/>
          <p:cNvSpPr/>
          <p:nvPr/>
        </p:nvSpPr>
        <p:spPr bwMode="auto">
          <a:xfrm>
            <a:off x="4754880" y="3959352"/>
            <a:ext cx="4023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Dense 32 → Dropout 0.2</a:t>
            </a:r>
            <a:endParaRPr lang="en-US" sz="1100"/>
          </a:p>
        </p:txBody>
      </p:sp>
      <p:sp>
        <p:nvSpPr>
          <p:cNvPr id="1335314108" name="Shape 64"/>
          <p:cNvSpPr/>
          <p:nvPr/>
        </p:nvSpPr>
        <p:spPr bwMode="auto">
          <a:xfrm>
            <a:off x="6766560" y="4352544"/>
            <a:ext cx="0" cy="914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79479170" name="Shape 65"/>
          <p:cNvSpPr/>
          <p:nvPr/>
        </p:nvSpPr>
        <p:spPr bwMode="auto">
          <a:xfrm>
            <a:off x="4663440" y="4443984"/>
            <a:ext cx="4206240" cy="429768"/>
          </a:xfrm>
          <a:prstGeom prst="rect">
            <a:avLst/>
          </a:prstGeom>
          <a:solidFill>
            <a:srgbClr val="ECFDF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98526185" name="Text 66"/>
          <p:cNvSpPr/>
          <p:nvPr/>
        </p:nvSpPr>
        <p:spPr bwMode="auto">
          <a:xfrm>
            <a:off x="4754880" y="4480560"/>
            <a:ext cx="4023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Output Dense 1 (Sigmoid)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0F9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65285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5803922" name="Shape 1"/>
          <p:cNvSpPr/>
          <p:nvPr/>
        </p:nvSpPr>
        <p:spPr bwMode="auto">
          <a:xfrm>
            <a:off x="0" y="73152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786941" name="Text 2"/>
          <p:cNvSpPr/>
          <p:nvPr/>
        </p:nvSpPr>
        <p:spPr bwMode="auto">
          <a:xfrm>
            <a:off x="274320" y="9144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Slide 7 — Results &amp; Metrics Comparison</a:t>
            </a:r>
            <a:endParaRPr lang="en-US" sz="2200"/>
          </a:p>
        </p:txBody>
      </p:sp>
      <p:sp>
        <p:nvSpPr>
          <p:cNvPr id="1075002992" name="Shape 3"/>
          <p:cNvSpPr/>
          <p:nvPr/>
        </p:nvSpPr>
        <p:spPr bwMode="auto">
          <a:xfrm>
            <a:off x="274320" y="914400"/>
            <a:ext cx="19202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16849756" name="Text 4"/>
          <p:cNvSpPr/>
          <p:nvPr/>
        </p:nvSpPr>
        <p:spPr bwMode="auto">
          <a:xfrm>
            <a:off x="320040" y="9144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  <a:endParaRPr lang="en-US" sz="1100"/>
          </a:p>
        </p:txBody>
      </p:sp>
      <p:sp>
        <p:nvSpPr>
          <p:cNvPr id="1608894635" name="Shape 5"/>
          <p:cNvSpPr/>
          <p:nvPr/>
        </p:nvSpPr>
        <p:spPr bwMode="auto">
          <a:xfrm>
            <a:off x="2331720" y="914400"/>
            <a:ext cx="1600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9959972" name="Text 6"/>
          <p:cNvSpPr/>
          <p:nvPr/>
        </p:nvSpPr>
        <p:spPr bwMode="auto">
          <a:xfrm>
            <a:off x="2377440" y="914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Accuracy</a:t>
            </a:r>
            <a:endParaRPr lang="en-US" sz="1100"/>
          </a:p>
        </p:txBody>
      </p:sp>
      <p:sp>
        <p:nvSpPr>
          <p:cNvPr id="184028516" name="Shape 7"/>
          <p:cNvSpPr/>
          <p:nvPr/>
        </p:nvSpPr>
        <p:spPr bwMode="auto">
          <a:xfrm>
            <a:off x="4069080" y="914400"/>
            <a:ext cx="1508759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8452951" name="Text 8"/>
          <p:cNvSpPr/>
          <p:nvPr/>
        </p:nvSpPr>
        <p:spPr bwMode="auto">
          <a:xfrm>
            <a:off x="4114800" y="914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F1 Score</a:t>
            </a:r>
            <a:endParaRPr lang="en-US" sz="1100"/>
          </a:p>
        </p:txBody>
      </p:sp>
      <p:sp>
        <p:nvSpPr>
          <p:cNvPr id="300734666" name="Shape 9"/>
          <p:cNvSpPr/>
          <p:nvPr/>
        </p:nvSpPr>
        <p:spPr bwMode="auto">
          <a:xfrm>
            <a:off x="5715000" y="914400"/>
            <a:ext cx="14173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63278449" name="Text 10"/>
          <p:cNvSpPr/>
          <p:nvPr/>
        </p:nvSpPr>
        <p:spPr bwMode="auto">
          <a:xfrm>
            <a:off x="5760720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ROC-AUC</a:t>
            </a:r>
            <a:endParaRPr lang="en-US" sz="1100"/>
          </a:p>
        </p:txBody>
      </p:sp>
      <p:sp>
        <p:nvSpPr>
          <p:cNvPr id="2111274641" name="Shape 11"/>
          <p:cNvSpPr/>
          <p:nvPr/>
        </p:nvSpPr>
        <p:spPr bwMode="auto">
          <a:xfrm>
            <a:off x="7269480" y="914400"/>
            <a:ext cx="1600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69722147" name="Text 12"/>
          <p:cNvSpPr/>
          <p:nvPr/>
        </p:nvSpPr>
        <p:spPr bwMode="auto">
          <a:xfrm>
            <a:off x="7315200" y="914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</a:t>
            </a:r>
            <a:endParaRPr lang="en-US" sz="1100"/>
          </a:p>
        </p:txBody>
      </p:sp>
      <p:sp>
        <p:nvSpPr>
          <p:cNvPr id="950003950" name="Shape 13"/>
          <p:cNvSpPr/>
          <p:nvPr/>
        </p:nvSpPr>
        <p:spPr bwMode="auto">
          <a:xfrm>
            <a:off x="274320" y="1298448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4308724" name="Text 14"/>
          <p:cNvSpPr/>
          <p:nvPr/>
        </p:nvSpPr>
        <p:spPr bwMode="auto">
          <a:xfrm>
            <a:off x="320040" y="12984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Logistic Regression</a:t>
            </a:r>
            <a:endParaRPr lang="en-US" sz="1050"/>
          </a:p>
        </p:txBody>
      </p:sp>
      <p:sp>
        <p:nvSpPr>
          <p:cNvPr id="2000136809" name="Shape 15"/>
          <p:cNvSpPr/>
          <p:nvPr/>
        </p:nvSpPr>
        <p:spPr bwMode="auto">
          <a:xfrm>
            <a:off x="2331720" y="1298448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7914331" name="Text 16"/>
          <p:cNvSpPr/>
          <p:nvPr/>
        </p:nvSpPr>
        <p:spPr bwMode="auto">
          <a:xfrm>
            <a:off x="2377440" y="12984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0.7299</a:t>
            </a:r>
            <a:endParaRPr lang="en-US" sz="1200"/>
          </a:p>
        </p:txBody>
      </p:sp>
      <p:sp>
        <p:nvSpPr>
          <p:cNvPr id="833854015" name="Shape 17"/>
          <p:cNvSpPr/>
          <p:nvPr/>
        </p:nvSpPr>
        <p:spPr bwMode="auto">
          <a:xfrm>
            <a:off x="4069080" y="1298448"/>
            <a:ext cx="150875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6750443" name="Text 18"/>
          <p:cNvSpPr/>
          <p:nvPr/>
        </p:nvSpPr>
        <p:spPr bwMode="auto">
          <a:xfrm>
            <a:off x="4114800" y="12984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0.6082</a:t>
            </a:r>
            <a:endParaRPr lang="en-US" sz="1200"/>
          </a:p>
        </p:txBody>
      </p:sp>
      <p:sp>
        <p:nvSpPr>
          <p:cNvPr id="1264564729" name="Shape 19"/>
          <p:cNvSpPr/>
          <p:nvPr/>
        </p:nvSpPr>
        <p:spPr bwMode="auto">
          <a:xfrm>
            <a:off x="5715000" y="1298448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91360401" name="Text 20"/>
          <p:cNvSpPr/>
          <p:nvPr/>
        </p:nvSpPr>
        <p:spPr bwMode="auto">
          <a:xfrm>
            <a:off x="5760720" y="12984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0.8426</a:t>
            </a:r>
            <a:endParaRPr lang="en-US" sz="1200"/>
          </a:p>
        </p:txBody>
      </p:sp>
      <p:sp>
        <p:nvSpPr>
          <p:cNvPr id="1453532459" name="Shape 21"/>
          <p:cNvSpPr/>
          <p:nvPr/>
        </p:nvSpPr>
        <p:spPr bwMode="auto">
          <a:xfrm>
            <a:off x="7269480" y="1298448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6391689" name="Text 22"/>
          <p:cNvSpPr/>
          <p:nvPr/>
        </p:nvSpPr>
        <p:spPr bwMode="auto">
          <a:xfrm>
            <a:off x="7315200" y="12984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ML</a:t>
            </a:r>
            <a:endParaRPr lang="en-US" sz="1200"/>
          </a:p>
        </p:txBody>
      </p:sp>
      <p:sp>
        <p:nvSpPr>
          <p:cNvPr id="468518423" name="Shape 23"/>
          <p:cNvSpPr/>
          <p:nvPr/>
        </p:nvSpPr>
        <p:spPr bwMode="auto">
          <a:xfrm>
            <a:off x="274320" y="1865376"/>
            <a:ext cx="19202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47413381" name="Text 24"/>
          <p:cNvSpPr/>
          <p:nvPr/>
        </p:nvSpPr>
        <p:spPr bwMode="auto">
          <a:xfrm>
            <a:off x="320040" y="1865376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Random Forest</a:t>
            </a:r>
            <a:endParaRPr lang="en-US" sz="1050"/>
          </a:p>
        </p:txBody>
      </p:sp>
      <p:sp>
        <p:nvSpPr>
          <p:cNvPr id="318824044" name="Shape 25"/>
          <p:cNvSpPr/>
          <p:nvPr/>
        </p:nvSpPr>
        <p:spPr bwMode="auto">
          <a:xfrm>
            <a:off x="2331720" y="1865376"/>
            <a:ext cx="1600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03424077" name="Text 26"/>
          <p:cNvSpPr/>
          <p:nvPr/>
        </p:nvSpPr>
        <p:spPr bwMode="auto">
          <a:xfrm>
            <a:off x="2377440" y="186537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0.7918</a:t>
            </a:r>
            <a:endParaRPr lang="en-US" sz="1200"/>
          </a:p>
        </p:txBody>
      </p:sp>
      <p:sp>
        <p:nvSpPr>
          <p:cNvPr id="52277057" name="Shape 27"/>
          <p:cNvSpPr/>
          <p:nvPr/>
        </p:nvSpPr>
        <p:spPr bwMode="auto">
          <a:xfrm>
            <a:off x="4069080" y="1865376"/>
            <a:ext cx="1508759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14013578" name="Text 28"/>
          <p:cNvSpPr/>
          <p:nvPr/>
        </p:nvSpPr>
        <p:spPr bwMode="auto">
          <a:xfrm>
            <a:off x="4114800" y="186537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0.5581</a:t>
            </a:r>
            <a:endParaRPr lang="en-US" sz="1200"/>
          </a:p>
        </p:txBody>
      </p:sp>
      <p:sp>
        <p:nvSpPr>
          <p:cNvPr id="927894992" name="Shape 29"/>
          <p:cNvSpPr/>
          <p:nvPr/>
        </p:nvSpPr>
        <p:spPr bwMode="auto">
          <a:xfrm>
            <a:off x="5715000" y="1865376"/>
            <a:ext cx="14173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55422942" name="Text 30"/>
          <p:cNvSpPr/>
          <p:nvPr/>
        </p:nvSpPr>
        <p:spPr bwMode="auto">
          <a:xfrm>
            <a:off x="5760720" y="186537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0.8304</a:t>
            </a:r>
            <a:endParaRPr lang="en-US" sz="1200"/>
          </a:p>
        </p:txBody>
      </p:sp>
      <p:sp>
        <p:nvSpPr>
          <p:cNvPr id="2119769009" name="Shape 31"/>
          <p:cNvSpPr/>
          <p:nvPr/>
        </p:nvSpPr>
        <p:spPr bwMode="auto">
          <a:xfrm>
            <a:off x="7269480" y="1865376"/>
            <a:ext cx="1600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52694986" name="Text 32"/>
          <p:cNvSpPr/>
          <p:nvPr/>
        </p:nvSpPr>
        <p:spPr bwMode="auto">
          <a:xfrm>
            <a:off x="7315200" y="186537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ML</a:t>
            </a:r>
            <a:endParaRPr lang="en-US" sz="1200"/>
          </a:p>
        </p:txBody>
      </p:sp>
      <p:sp>
        <p:nvSpPr>
          <p:cNvPr id="1378786711" name="Shape 33"/>
          <p:cNvSpPr/>
          <p:nvPr/>
        </p:nvSpPr>
        <p:spPr bwMode="auto">
          <a:xfrm>
            <a:off x="274320" y="2432303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5937801" name="Text 34"/>
          <p:cNvSpPr/>
          <p:nvPr/>
        </p:nvSpPr>
        <p:spPr bwMode="auto">
          <a:xfrm>
            <a:off x="320040" y="2432303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Random Forest (tuned)</a:t>
            </a:r>
            <a:endParaRPr lang="en-US" sz="1050"/>
          </a:p>
        </p:txBody>
      </p:sp>
      <p:sp>
        <p:nvSpPr>
          <p:cNvPr id="1501469062" name="Shape 35"/>
          <p:cNvSpPr/>
          <p:nvPr/>
        </p:nvSpPr>
        <p:spPr bwMode="auto">
          <a:xfrm>
            <a:off x="2331720" y="2432303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3135205" name="Text 36"/>
          <p:cNvSpPr/>
          <p:nvPr/>
        </p:nvSpPr>
        <p:spPr bwMode="auto">
          <a:xfrm>
            <a:off x="2377440" y="2432303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0.7996</a:t>
            </a:r>
            <a:endParaRPr lang="en-US" sz="1200"/>
          </a:p>
        </p:txBody>
      </p:sp>
      <p:sp>
        <p:nvSpPr>
          <p:cNvPr id="965346832" name="Shape 37"/>
          <p:cNvSpPr/>
          <p:nvPr/>
        </p:nvSpPr>
        <p:spPr bwMode="auto">
          <a:xfrm>
            <a:off x="4069080" y="2432303"/>
            <a:ext cx="150875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79788146" name="Text 38"/>
          <p:cNvSpPr/>
          <p:nvPr/>
        </p:nvSpPr>
        <p:spPr bwMode="auto">
          <a:xfrm>
            <a:off x="4114800" y="2432303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0.5889</a:t>
            </a:r>
            <a:endParaRPr lang="en-US" sz="1200"/>
          </a:p>
        </p:txBody>
      </p:sp>
      <p:sp>
        <p:nvSpPr>
          <p:cNvPr id="1844405457" name="Shape 39"/>
          <p:cNvSpPr/>
          <p:nvPr/>
        </p:nvSpPr>
        <p:spPr bwMode="auto">
          <a:xfrm>
            <a:off x="5715000" y="2432303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80583982" name="Text 40"/>
          <p:cNvSpPr/>
          <p:nvPr/>
        </p:nvSpPr>
        <p:spPr bwMode="auto">
          <a:xfrm>
            <a:off x="5760720" y="243230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0.8424</a:t>
            </a:r>
            <a:endParaRPr lang="en-US" sz="1200"/>
          </a:p>
        </p:txBody>
      </p:sp>
      <p:sp>
        <p:nvSpPr>
          <p:cNvPr id="1455468161" name="Shape 41"/>
          <p:cNvSpPr/>
          <p:nvPr/>
        </p:nvSpPr>
        <p:spPr bwMode="auto">
          <a:xfrm>
            <a:off x="7269480" y="2432303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71487714" name="Text 42"/>
          <p:cNvSpPr/>
          <p:nvPr/>
        </p:nvSpPr>
        <p:spPr bwMode="auto">
          <a:xfrm>
            <a:off x="7315200" y="2432303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ML</a:t>
            </a:r>
            <a:endParaRPr lang="en-US" sz="1200"/>
          </a:p>
        </p:txBody>
      </p:sp>
      <p:sp>
        <p:nvSpPr>
          <p:cNvPr id="1609762326" name="Shape 43"/>
          <p:cNvSpPr/>
          <p:nvPr/>
        </p:nvSpPr>
        <p:spPr bwMode="auto">
          <a:xfrm>
            <a:off x="274320" y="2999232"/>
            <a:ext cx="19202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9355559" name="Text 44"/>
          <p:cNvSpPr/>
          <p:nvPr/>
        </p:nvSpPr>
        <p:spPr bwMode="auto">
          <a:xfrm>
            <a:off x="320040" y="299923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XGBoost (base)</a:t>
            </a:r>
            <a:endParaRPr lang="en-US" sz="1050"/>
          </a:p>
        </p:txBody>
      </p:sp>
      <p:sp>
        <p:nvSpPr>
          <p:cNvPr id="982923476" name="Shape 45"/>
          <p:cNvSpPr/>
          <p:nvPr/>
        </p:nvSpPr>
        <p:spPr bwMode="auto">
          <a:xfrm>
            <a:off x="2331720" y="2999232"/>
            <a:ext cx="1600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0451867" name="Text 46"/>
          <p:cNvSpPr/>
          <p:nvPr/>
        </p:nvSpPr>
        <p:spPr bwMode="auto">
          <a:xfrm>
            <a:off x="2377440" y="29992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0.7434</a:t>
            </a:r>
            <a:endParaRPr lang="en-US" sz="1200"/>
          </a:p>
        </p:txBody>
      </p:sp>
      <p:sp>
        <p:nvSpPr>
          <p:cNvPr id="1181219881" name="Shape 47"/>
          <p:cNvSpPr/>
          <p:nvPr/>
        </p:nvSpPr>
        <p:spPr bwMode="auto">
          <a:xfrm>
            <a:off x="4069080" y="2999232"/>
            <a:ext cx="1508759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41672244" name="Text 48"/>
          <p:cNvSpPr/>
          <p:nvPr/>
        </p:nvSpPr>
        <p:spPr bwMode="auto">
          <a:xfrm>
            <a:off x="4114800" y="299923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0.6243</a:t>
            </a:r>
            <a:endParaRPr lang="en-US" sz="1200"/>
          </a:p>
        </p:txBody>
      </p:sp>
      <p:sp>
        <p:nvSpPr>
          <p:cNvPr id="1416964850" name="Shape 49"/>
          <p:cNvSpPr/>
          <p:nvPr/>
        </p:nvSpPr>
        <p:spPr bwMode="auto">
          <a:xfrm>
            <a:off x="5715000" y="2999232"/>
            <a:ext cx="14173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1231594" name="Text 50"/>
          <p:cNvSpPr/>
          <p:nvPr/>
        </p:nvSpPr>
        <p:spPr bwMode="auto">
          <a:xfrm>
            <a:off x="5760720" y="29992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0.8424</a:t>
            </a:r>
            <a:endParaRPr lang="en-US" sz="1200"/>
          </a:p>
        </p:txBody>
      </p:sp>
      <p:sp>
        <p:nvSpPr>
          <p:cNvPr id="1745283260" name="Shape 51"/>
          <p:cNvSpPr/>
          <p:nvPr/>
        </p:nvSpPr>
        <p:spPr bwMode="auto">
          <a:xfrm>
            <a:off x="7269480" y="2999232"/>
            <a:ext cx="1600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8739661" name="Text 52"/>
          <p:cNvSpPr/>
          <p:nvPr/>
        </p:nvSpPr>
        <p:spPr bwMode="auto">
          <a:xfrm>
            <a:off x="7315200" y="29992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ML</a:t>
            </a:r>
            <a:endParaRPr lang="en-US" sz="1200"/>
          </a:p>
        </p:txBody>
      </p:sp>
      <p:sp>
        <p:nvSpPr>
          <p:cNvPr id="964564799" name="Shape 53"/>
          <p:cNvSpPr/>
          <p:nvPr/>
        </p:nvSpPr>
        <p:spPr bwMode="auto">
          <a:xfrm>
            <a:off x="274320" y="3566160"/>
            <a:ext cx="1920240" cy="5029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8059405" name="Text 54"/>
          <p:cNvSpPr/>
          <p:nvPr/>
        </p:nvSpPr>
        <p:spPr bwMode="auto">
          <a:xfrm>
            <a:off x="320040" y="3566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5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XGBoost (tuned + FS) ★ BEST</a:t>
            </a:r>
            <a:endParaRPr lang="en-US" sz="1050"/>
          </a:p>
        </p:txBody>
      </p:sp>
      <p:sp>
        <p:nvSpPr>
          <p:cNvPr id="114231008" name="Shape 55"/>
          <p:cNvSpPr/>
          <p:nvPr/>
        </p:nvSpPr>
        <p:spPr bwMode="auto">
          <a:xfrm>
            <a:off x="2331720" y="3566160"/>
            <a:ext cx="1600200" cy="5029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86746936" name="Text 56"/>
          <p:cNvSpPr/>
          <p:nvPr/>
        </p:nvSpPr>
        <p:spPr bwMode="auto">
          <a:xfrm>
            <a:off x="2377440" y="3566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0.7491</a:t>
            </a:r>
            <a:endParaRPr lang="en-US" sz="1200"/>
          </a:p>
        </p:txBody>
      </p:sp>
      <p:sp>
        <p:nvSpPr>
          <p:cNvPr id="1224195394" name="Shape 57"/>
          <p:cNvSpPr/>
          <p:nvPr/>
        </p:nvSpPr>
        <p:spPr bwMode="auto">
          <a:xfrm>
            <a:off x="4069080" y="3566160"/>
            <a:ext cx="1508759" cy="5029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748723509" name="Text 58"/>
          <p:cNvSpPr/>
          <p:nvPr/>
        </p:nvSpPr>
        <p:spPr bwMode="auto">
          <a:xfrm>
            <a:off x="4114800" y="3566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0.6304</a:t>
            </a:r>
            <a:endParaRPr lang="en-US" sz="1200"/>
          </a:p>
        </p:txBody>
      </p:sp>
      <p:sp>
        <p:nvSpPr>
          <p:cNvPr id="793375345" name="Shape 59"/>
          <p:cNvSpPr/>
          <p:nvPr/>
        </p:nvSpPr>
        <p:spPr bwMode="auto">
          <a:xfrm>
            <a:off x="5715000" y="3566160"/>
            <a:ext cx="1417320" cy="5029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04209526" name="Text 60"/>
          <p:cNvSpPr/>
          <p:nvPr/>
        </p:nvSpPr>
        <p:spPr bwMode="auto">
          <a:xfrm>
            <a:off x="5760720" y="3566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0.8446</a:t>
            </a:r>
            <a:endParaRPr lang="en-US" sz="1200"/>
          </a:p>
        </p:txBody>
      </p:sp>
      <p:sp>
        <p:nvSpPr>
          <p:cNvPr id="1430283600" name="Shape 61"/>
          <p:cNvSpPr/>
          <p:nvPr/>
        </p:nvSpPr>
        <p:spPr bwMode="auto">
          <a:xfrm>
            <a:off x="7269480" y="3566160"/>
            <a:ext cx="1600200" cy="5029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5783152" name="Text 62"/>
          <p:cNvSpPr/>
          <p:nvPr/>
        </p:nvSpPr>
        <p:spPr bwMode="auto">
          <a:xfrm>
            <a:off x="7315200" y="3566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ML</a:t>
            </a:r>
            <a:endParaRPr lang="en-US" sz="1200"/>
          </a:p>
        </p:txBody>
      </p:sp>
      <p:sp>
        <p:nvSpPr>
          <p:cNvPr id="1000777258" name="Shape 63"/>
          <p:cNvSpPr/>
          <p:nvPr/>
        </p:nvSpPr>
        <p:spPr bwMode="auto">
          <a:xfrm>
            <a:off x="274320" y="4133088"/>
            <a:ext cx="19202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54879075" name="Text 64"/>
          <p:cNvSpPr/>
          <p:nvPr/>
        </p:nvSpPr>
        <p:spPr bwMode="auto">
          <a:xfrm>
            <a:off x="320040" y="413308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ANN (Deep Learning)</a:t>
            </a:r>
            <a:endParaRPr lang="en-US" sz="1050"/>
          </a:p>
        </p:txBody>
      </p:sp>
      <p:sp>
        <p:nvSpPr>
          <p:cNvPr id="921585576" name="Shape 65"/>
          <p:cNvSpPr/>
          <p:nvPr/>
        </p:nvSpPr>
        <p:spPr bwMode="auto">
          <a:xfrm>
            <a:off x="2331720" y="4133088"/>
            <a:ext cx="1600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40122323" name="Text 66"/>
          <p:cNvSpPr/>
          <p:nvPr/>
        </p:nvSpPr>
        <p:spPr bwMode="auto">
          <a:xfrm>
            <a:off x="2377440" y="413308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0.7264</a:t>
            </a:r>
            <a:endParaRPr lang="en-US" sz="1200"/>
          </a:p>
        </p:txBody>
      </p:sp>
      <p:sp>
        <p:nvSpPr>
          <p:cNvPr id="143313994" name="Shape 67"/>
          <p:cNvSpPr/>
          <p:nvPr/>
        </p:nvSpPr>
        <p:spPr bwMode="auto">
          <a:xfrm>
            <a:off x="4069080" y="4133088"/>
            <a:ext cx="1508759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5466127" name="Text 68"/>
          <p:cNvSpPr/>
          <p:nvPr/>
        </p:nvSpPr>
        <p:spPr bwMode="auto">
          <a:xfrm>
            <a:off x="4114800" y="413308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0.6184</a:t>
            </a:r>
            <a:endParaRPr lang="en-US" sz="1200"/>
          </a:p>
        </p:txBody>
      </p:sp>
      <p:sp>
        <p:nvSpPr>
          <p:cNvPr id="139360590" name="Shape 69"/>
          <p:cNvSpPr/>
          <p:nvPr/>
        </p:nvSpPr>
        <p:spPr bwMode="auto">
          <a:xfrm>
            <a:off x="5715000" y="4133088"/>
            <a:ext cx="14173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84692886" name="Text 70"/>
          <p:cNvSpPr/>
          <p:nvPr/>
        </p:nvSpPr>
        <p:spPr bwMode="auto">
          <a:xfrm>
            <a:off x="5760720" y="41330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0.8392</a:t>
            </a:r>
            <a:endParaRPr lang="en-US" sz="1200"/>
          </a:p>
        </p:txBody>
      </p:sp>
      <p:sp>
        <p:nvSpPr>
          <p:cNvPr id="697308144" name="Shape 71"/>
          <p:cNvSpPr/>
          <p:nvPr/>
        </p:nvSpPr>
        <p:spPr bwMode="auto">
          <a:xfrm>
            <a:off x="7269480" y="4133088"/>
            <a:ext cx="1600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3227318" name="Text 72"/>
          <p:cNvSpPr/>
          <p:nvPr/>
        </p:nvSpPr>
        <p:spPr bwMode="auto">
          <a:xfrm>
            <a:off x="7315200" y="413308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DL</a:t>
            </a:r>
            <a:endParaRPr lang="en-US" sz="1200"/>
          </a:p>
        </p:txBody>
      </p:sp>
      <p:sp>
        <p:nvSpPr>
          <p:cNvPr id="1370459308" name="Text 73"/>
          <p:cNvSpPr/>
          <p:nvPr/>
        </p:nvSpPr>
        <p:spPr bwMode="auto"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★ </a:t>
            </a:r>
            <a:r>
              <a:rPr lang="en-US" sz="1100" b="0" i="1" u="none" strike="noStrike" cap="none" spc="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Best by F1: XGBoost (tuned + FS) — F1 0.6304, ROC-AUC 0.8446, PR-AUC 0.6533.</a:t>
            </a:r>
            <a:endParaRPr lang="en-US" sz="1100" i="1">
              <a:solidFill>
                <a:srgbClr val="10B98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0F9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930889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63057335" name="Shape 1"/>
          <p:cNvSpPr/>
          <p:nvPr/>
        </p:nvSpPr>
        <p:spPr bwMode="auto">
          <a:xfrm>
            <a:off x="0" y="73152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32036424" name="Text 2"/>
          <p:cNvSpPr/>
          <p:nvPr/>
        </p:nvSpPr>
        <p:spPr bwMode="auto">
          <a:xfrm>
            <a:off x="274320" y="9144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Slide 8 — Proposed Solution &amp; Best Model</a:t>
            </a:r>
            <a:endParaRPr lang="en-US" sz="2200"/>
          </a:p>
        </p:txBody>
      </p:sp>
      <p:sp>
        <p:nvSpPr>
          <p:cNvPr id="659650535" name="Shape 3"/>
          <p:cNvSpPr/>
          <p:nvPr/>
        </p:nvSpPr>
        <p:spPr bwMode="auto">
          <a:xfrm>
            <a:off x="274320" y="914400"/>
            <a:ext cx="8595360" cy="1234440"/>
          </a:xfrm>
          <a:prstGeom prst="rect">
            <a:avLst/>
          </a:prstGeom>
          <a:solidFill>
            <a:srgbClr val="0D1B2A"/>
          </a:solidFill>
          <a:ln w="19050">
            <a:solidFill>
              <a:srgbClr val="10B981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616528455" name="Text 4"/>
          <p:cNvSpPr/>
          <p:nvPr/>
        </p:nvSpPr>
        <p:spPr bwMode="auto"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🏆  Best Model: XGBoost (Tuned + FS)</a:t>
            </a:r>
            <a:endParaRPr lang="en-US" sz="2000"/>
          </a:p>
        </p:txBody>
      </p:sp>
      <p:sp>
        <p:nvSpPr>
          <p:cNvPr id="838140790" name="Text 5"/>
          <p:cNvSpPr/>
          <p:nvPr/>
        </p:nvSpPr>
        <p:spPr bwMode="auto">
          <a:xfrm>
            <a:off x="457200" y="13898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Accuracy: 0.7491   ·   F1 Score: 0.6304   ·   ROC-AUC: 0.8446</a:t>
            </a:r>
            <a:endParaRPr lang="en-US" sz="1400"/>
          </a:p>
        </p:txBody>
      </p:sp>
      <p:sp>
        <p:nvSpPr>
          <p:cNvPr id="1379446625" name="Text 6"/>
          <p:cNvSpPr/>
          <p:nvPr/>
        </p:nvSpPr>
        <p:spPr bwMode="auto"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0" i="0" u="none" strike="noStrike" cap="none" spc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Tuning (RandomizedSearchCV, 25 iters, 5-fold CV, scoring=F1): n_estimators=200, max_depth=6, learning_rate=0.01, subsample=0.8, colsample_bytree=0.8, min_child_weight=1 Fixed: scale_pos_weight ≈ 2.77 (≈ neg/pos ratio), eval_metric='logloss', random_state=42, n_jobs=-1 Best CV F1: 0.6506 → Test F1: 0.6304</a:t>
            </a:r>
            <a:endParaRPr sz="900"/>
          </a:p>
        </p:txBody>
      </p:sp>
      <p:sp>
        <p:nvSpPr>
          <p:cNvPr id="837625158" name="Text 7"/>
          <p:cNvSpPr/>
          <p:nvPr/>
        </p:nvSpPr>
        <p:spPr bwMode="auto">
          <a:xfrm>
            <a:off x="274320" y="22860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Why XGBoost?</a:t>
            </a:r>
            <a:endParaRPr lang="en-US" sz="1300"/>
          </a:p>
        </p:txBody>
      </p:sp>
      <p:sp>
        <p:nvSpPr>
          <p:cNvPr id="271246681" name="Text 8"/>
          <p:cNvSpPr/>
          <p:nvPr/>
        </p:nvSpPr>
        <p:spPr bwMode="auto">
          <a:xfrm>
            <a:off x="274320" y="2624328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Handles class imbalance natively via scale_pos_weight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Gradient boosting captures non-linear feature interactions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RandomizedSearchCV tuning improved F1 from 0.6243 → 0.6304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Feature selection (41 → 35 features) </a:t>
            </a:r>
            <a:r>
              <a:rPr lang="en-US" sz="1100" b="0" i="0" u="none" strike="noStrike" cap="none" spc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lifted F1 from 0.6282 to 0.6304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Best ROC-AUC (0.8446) = best ranking/discrimination ability</a:t>
            </a:r>
            <a:endParaRPr lang="en-US" sz="1100"/>
          </a:p>
        </p:txBody>
      </p:sp>
      <p:sp>
        <p:nvSpPr>
          <p:cNvPr id="1498824675" name="Text 9"/>
          <p:cNvSpPr/>
          <p:nvPr/>
        </p:nvSpPr>
        <p:spPr bwMode="auto">
          <a:xfrm>
            <a:off x="4572000" y="22860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Deployment Vision</a:t>
            </a:r>
            <a:endParaRPr lang="en-US" sz="1300"/>
          </a:p>
        </p:txBody>
      </p:sp>
      <p:sp>
        <p:nvSpPr>
          <p:cNvPr id="1474176457" name="Shape 10"/>
          <p:cNvSpPr/>
          <p:nvPr/>
        </p:nvSpPr>
        <p:spPr bwMode="auto">
          <a:xfrm>
            <a:off x="4572000" y="2624328"/>
            <a:ext cx="4297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520208532" name="Text 11"/>
          <p:cNvSpPr/>
          <p:nvPr/>
        </p:nvSpPr>
        <p:spPr bwMode="auto">
          <a:xfrm>
            <a:off x="4681728" y="26609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Real-Time Scoring</a:t>
            </a:r>
            <a:endParaRPr lang="en-US" sz="1100"/>
          </a:p>
        </p:txBody>
      </p:sp>
      <p:sp>
        <p:nvSpPr>
          <p:cNvPr id="1324038415" name="Text 12"/>
          <p:cNvSpPr/>
          <p:nvPr/>
        </p:nvSpPr>
        <p:spPr bwMode="auto">
          <a:xfrm>
            <a:off x="4681728" y="29260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Score each customer monthly; flag those with predicted churn </a:t>
            </a:r>
            <a:r>
              <a:rPr lang="en-US" sz="1050" b="0" i="0" u="none" strike="noStrike" cap="none" spc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prob &gt; Youden-optimal threshold (currently 0.494)</a:t>
            </a: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050"/>
          </a:p>
        </p:txBody>
      </p:sp>
      <p:sp>
        <p:nvSpPr>
          <p:cNvPr id="680569130" name="Shape 13"/>
          <p:cNvSpPr/>
          <p:nvPr/>
        </p:nvSpPr>
        <p:spPr bwMode="auto">
          <a:xfrm>
            <a:off x="4572000" y="3447288"/>
            <a:ext cx="4297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772204810" name="Text 14"/>
          <p:cNvSpPr/>
          <p:nvPr/>
        </p:nvSpPr>
        <p:spPr bwMode="auto">
          <a:xfrm>
            <a:off x="4681728" y="348386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Retention Actions</a:t>
            </a:r>
            <a:endParaRPr lang="en-US" sz="1100"/>
          </a:p>
        </p:txBody>
      </p:sp>
      <p:sp>
        <p:nvSpPr>
          <p:cNvPr id="1478692422" name="Text 15"/>
          <p:cNvSpPr/>
          <p:nvPr/>
        </p:nvSpPr>
        <p:spPr bwMode="auto">
          <a:xfrm>
            <a:off x="4681728" y="37490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High-risk customers receive personalized offers (discounts, contract upgrade).</a:t>
            </a:r>
            <a:endParaRPr lang="en-US" sz="1050"/>
          </a:p>
        </p:txBody>
      </p:sp>
      <p:sp>
        <p:nvSpPr>
          <p:cNvPr id="1037731461" name="Shape 16"/>
          <p:cNvSpPr/>
          <p:nvPr/>
        </p:nvSpPr>
        <p:spPr bwMode="auto">
          <a:xfrm>
            <a:off x="4572000" y="4270248"/>
            <a:ext cx="4297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744545401" name="Text 17"/>
          <p:cNvSpPr/>
          <p:nvPr/>
        </p:nvSpPr>
        <p:spPr bwMode="auto">
          <a:xfrm>
            <a:off x="4681728" y="43068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Monitoring</a:t>
            </a:r>
            <a:endParaRPr lang="en-US" sz="1100"/>
          </a:p>
        </p:txBody>
      </p:sp>
      <p:sp>
        <p:nvSpPr>
          <p:cNvPr id="2031493075" name="Text 18"/>
          <p:cNvSpPr/>
          <p:nvPr/>
        </p:nvSpPr>
        <p:spPr bwMode="auto">
          <a:xfrm>
            <a:off x="4681728" y="45720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Retrain model quarterly as customer behaviors evolve.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0F9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72590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27451964" name="Shape 1"/>
          <p:cNvSpPr/>
          <p:nvPr/>
        </p:nvSpPr>
        <p:spPr bwMode="auto">
          <a:xfrm>
            <a:off x="0" y="73152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10377070" name="Text 2"/>
          <p:cNvSpPr/>
          <p:nvPr/>
        </p:nvSpPr>
        <p:spPr bwMode="auto">
          <a:xfrm>
            <a:off x="274320" y="9144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Slide 9 — Evaluation: Strengths &amp; Weaknesses</a:t>
            </a:r>
            <a:endParaRPr lang="en-US" sz="2200"/>
          </a:p>
        </p:txBody>
      </p:sp>
      <p:sp>
        <p:nvSpPr>
          <p:cNvPr id="2022801522" name="Text 3"/>
          <p:cNvSpPr/>
          <p:nvPr/>
        </p:nvSpPr>
        <p:spPr bwMode="auto"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ML vs DL Analysis</a:t>
            </a:r>
            <a:endParaRPr lang="en-US" sz="1400"/>
          </a:p>
        </p:txBody>
      </p:sp>
      <p:sp>
        <p:nvSpPr>
          <p:cNvPr id="1650280844" name="Shape 4"/>
          <p:cNvSpPr/>
          <p:nvPr/>
        </p:nvSpPr>
        <p:spPr bwMode="auto">
          <a:xfrm>
            <a:off x="274320" y="1280160"/>
            <a:ext cx="42062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885043094" name="Shape 5"/>
          <p:cNvSpPr/>
          <p:nvPr/>
        </p:nvSpPr>
        <p:spPr bwMode="auto">
          <a:xfrm>
            <a:off x="274320" y="1280160"/>
            <a:ext cx="420624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107288" name="Text 6"/>
          <p:cNvSpPr/>
          <p:nvPr/>
        </p:nvSpPr>
        <p:spPr bwMode="auto">
          <a:xfrm>
            <a:off x="384048" y="1280160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XGBoost (Best ML)  [ML]</a:t>
            </a:r>
            <a:endParaRPr lang="en-US" sz="1200"/>
          </a:p>
        </p:txBody>
      </p:sp>
      <p:sp>
        <p:nvSpPr>
          <p:cNvPr id="1390227964" name="Text 7"/>
          <p:cNvSpPr/>
          <p:nvPr/>
        </p:nvSpPr>
        <p:spPr bwMode="auto">
          <a:xfrm>
            <a:off x="384048" y="17373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✅  Strengths</a:t>
            </a:r>
            <a:endParaRPr lang="en-US" sz="1100"/>
          </a:p>
        </p:txBody>
      </p:sp>
      <p:sp>
        <p:nvSpPr>
          <p:cNvPr id="929327038" name="Text 8"/>
          <p:cNvSpPr/>
          <p:nvPr/>
        </p:nvSpPr>
        <p:spPr bwMode="auto">
          <a:xfrm>
            <a:off x="384048" y="20116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Best F1 (0.6304) and ROC-AUC (0.8446)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Handles imbalanced data well via scale_pos_weight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Interpretable via feature importance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Fast training (~seconds)</a:t>
            </a:r>
            <a:endParaRPr lang="en-US" sz="1050"/>
          </a:p>
        </p:txBody>
      </p:sp>
      <p:sp>
        <p:nvSpPr>
          <p:cNvPr id="5443640" name="Text 9"/>
          <p:cNvSpPr/>
          <p:nvPr/>
        </p:nvSpPr>
        <p:spPr bwMode="auto">
          <a:xfrm>
            <a:off x="384048" y="3246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❌  Weaknesses</a:t>
            </a:r>
            <a:endParaRPr lang="en-US" sz="1100"/>
          </a:p>
        </p:txBody>
      </p:sp>
      <p:sp>
        <p:nvSpPr>
          <p:cNvPr id="111683901" name="Text 10"/>
          <p:cNvSpPr/>
          <p:nvPr/>
        </p:nvSpPr>
        <p:spPr bwMode="auto">
          <a:xfrm>
            <a:off x="384048" y="35204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Lower accuracy (0.7491) than Random Forest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Requires manual feature engineering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Sensitive to hyperparameter choices</a:t>
            </a:r>
            <a:endParaRPr lang="en-US" sz="1050"/>
          </a:p>
        </p:txBody>
      </p:sp>
      <p:sp>
        <p:nvSpPr>
          <p:cNvPr id="427121491" name="Shape 11"/>
          <p:cNvSpPr/>
          <p:nvPr/>
        </p:nvSpPr>
        <p:spPr bwMode="auto">
          <a:xfrm>
            <a:off x="4709160" y="1280160"/>
            <a:ext cx="42062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333901390" name="Shape 12"/>
          <p:cNvSpPr/>
          <p:nvPr/>
        </p:nvSpPr>
        <p:spPr bwMode="auto">
          <a:xfrm>
            <a:off x="4709160" y="1280160"/>
            <a:ext cx="420624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67467669" name="Text 13"/>
          <p:cNvSpPr/>
          <p:nvPr/>
        </p:nvSpPr>
        <p:spPr bwMode="auto">
          <a:xfrm>
            <a:off x="4818888" y="1280160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ANN (Deep Learning)  [DL]</a:t>
            </a:r>
            <a:endParaRPr lang="en-US" sz="1200"/>
          </a:p>
        </p:txBody>
      </p:sp>
      <p:sp>
        <p:nvSpPr>
          <p:cNvPr id="19977374" name="Text 14"/>
          <p:cNvSpPr/>
          <p:nvPr/>
        </p:nvSpPr>
        <p:spPr bwMode="auto">
          <a:xfrm>
            <a:off x="4818888" y="17373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✅  Strengths</a:t>
            </a:r>
            <a:endParaRPr lang="en-US" sz="1100"/>
          </a:p>
        </p:txBody>
      </p:sp>
      <p:sp>
        <p:nvSpPr>
          <p:cNvPr id="50218909" name="Text 15"/>
          <p:cNvSpPr/>
          <p:nvPr/>
        </p:nvSpPr>
        <p:spPr bwMode="auto">
          <a:xfrm>
            <a:off x="4818888" y="20116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Comparable F1 (0.6184) to Logistic Regression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Automatically learns feature interactions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Scales well with larger datasets</a:t>
            </a:r>
            <a:endParaRPr lang="en-US" sz="1050"/>
          </a:p>
        </p:txBody>
      </p:sp>
      <p:sp>
        <p:nvSpPr>
          <p:cNvPr id="133573172" name="Text 16"/>
          <p:cNvSpPr/>
          <p:nvPr/>
        </p:nvSpPr>
        <p:spPr bwMode="auto">
          <a:xfrm>
            <a:off x="4818888" y="3246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❌  Weaknesses</a:t>
            </a:r>
            <a:endParaRPr lang="en-US" sz="1100"/>
          </a:p>
        </p:txBody>
      </p:sp>
      <p:sp>
        <p:nvSpPr>
          <p:cNvPr id="1297420018" name="Text 17"/>
          <p:cNvSpPr/>
          <p:nvPr/>
        </p:nvSpPr>
        <p:spPr bwMode="auto">
          <a:xfrm>
            <a:off x="4818888" y="35204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Underperforms ML on this tabular dataset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Requires more data and compute to shine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50" b="0" i="0" u="none" strike="noStrike" cap="none" spc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Less interpretable than tree models — needs permutation importance for explanations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Longer training time with callbacks/epochs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336225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82968476" name="Text 1"/>
          <p:cNvSpPr/>
          <p:nvPr/>
        </p:nvSpPr>
        <p:spPr bwMode="auto"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 &amp; Future Work</a:t>
            </a:r>
            <a:endParaRPr lang="en-US" sz="2600"/>
          </a:p>
        </p:txBody>
      </p:sp>
      <p:sp>
        <p:nvSpPr>
          <p:cNvPr id="431920738" name="Shape 2"/>
          <p:cNvSpPr/>
          <p:nvPr/>
        </p:nvSpPr>
        <p:spPr bwMode="auto">
          <a:xfrm>
            <a:off x="274320" y="960120"/>
            <a:ext cx="4206240" cy="1508759"/>
          </a:xfrm>
          <a:prstGeom prst="rect">
            <a:avLst/>
          </a:prstGeom>
          <a:solidFill>
            <a:srgbClr val="1B2A4A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527742113" name="Text 3"/>
          <p:cNvSpPr/>
          <p:nvPr/>
        </p:nvSpPr>
        <p:spPr bwMode="auto">
          <a:xfrm>
            <a:off x="4114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XGBoost Wins</a:t>
            </a:r>
            <a:endParaRPr lang="en-US" sz="1300"/>
          </a:p>
        </p:txBody>
      </p:sp>
      <p:sp>
        <p:nvSpPr>
          <p:cNvPr id="1490776466" name="Text 4"/>
          <p:cNvSpPr/>
          <p:nvPr/>
        </p:nvSpPr>
        <p:spPr bwMode="auto">
          <a:xfrm>
            <a:off x="411480" y="135331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On this tabular dataset, </a:t>
            </a:r>
            <a:r>
              <a:rPr lang="en-US" sz="1100" b="0" i="0" u="none" strike="noStrike" cap="none" spc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XGBoost (tuned + FS) achieves the best F1 (0.6304) and ROC-AUC (0.8446)</a:t>
            </a: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. Classical ML outperforms the ANN.</a:t>
            </a:r>
            <a:endParaRPr lang="en-US" sz="1100"/>
          </a:p>
        </p:txBody>
      </p:sp>
      <p:sp>
        <p:nvSpPr>
          <p:cNvPr id="1199729446" name="Shape 5"/>
          <p:cNvSpPr/>
          <p:nvPr/>
        </p:nvSpPr>
        <p:spPr bwMode="auto">
          <a:xfrm>
            <a:off x="4709160" y="960120"/>
            <a:ext cx="4206240" cy="1508759"/>
          </a:xfrm>
          <a:prstGeom prst="rect">
            <a:avLst/>
          </a:prstGeom>
          <a:solidFill>
            <a:srgbClr val="1B2A4A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670368226" name="Text 6"/>
          <p:cNvSpPr/>
          <p:nvPr/>
        </p:nvSpPr>
        <p:spPr bwMode="auto"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ML vs DL Insight</a:t>
            </a:r>
            <a:endParaRPr lang="en-US" sz="1300"/>
          </a:p>
        </p:txBody>
      </p:sp>
      <p:sp>
        <p:nvSpPr>
          <p:cNvPr id="295940109" name="Text 7"/>
          <p:cNvSpPr/>
          <p:nvPr/>
        </p:nvSpPr>
        <p:spPr bwMode="auto">
          <a:xfrm>
            <a:off x="4846320" y="135331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For structured/tabular data with &lt;10K rows, ML is typically faster, more interpretable, and equally or more accurate than DL.</a:t>
            </a:r>
            <a:endParaRPr lang="en-US" sz="1100"/>
          </a:p>
        </p:txBody>
      </p:sp>
      <p:sp>
        <p:nvSpPr>
          <p:cNvPr id="1713138442" name="Shape 8"/>
          <p:cNvSpPr/>
          <p:nvPr/>
        </p:nvSpPr>
        <p:spPr bwMode="auto">
          <a:xfrm>
            <a:off x="274320" y="2606040"/>
            <a:ext cx="4206240" cy="1508759"/>
          </a:xfrm>
          <a:prstGeom prst="rect">
            <a:avLst/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450979255" name="Text 9"/>
          <p:cNvSpPr/>
          <p:nvPr/>
        </p:nvSpPr>
        <p:spPr bwMode="auto">
          <a:xfrm>
            <a:off x="411480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When DL is Better</a:t>
            </a:r>
            <a:endParaRPr lang="en-US" sz="1300"/>
          </a:p>
        </p:txBody>
      </p:sp>
      <p:sp>
        <p:nvSpPr>
          <p:cNvPr id="1292169907" name="Text 10"/>
          <p:cNvSpPr/>
          <p:nvPr/>
        </p:nvSpPr>
        <p:spPr bwMode="auto">
          <a:xfrm>
            <a:off x="411480" y="299923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DL (ANN/CNN/LSTM) excels with unstructured data (images, text, audio) or very large tabular datasets where feature interactions are complex.</a:t>
            </a:r>
            <a:endParaRPr lang="en-US" sz="1100"/>
          </a:p>
        </p:txBody>
      </p:sp>
      <p:sp>
        <p:nvSpPr>
          <p:cNvPr id="1198150509" name="Shape 11"/>
          <p:cNvSpPr/>
          <p:nvPr/>
        </p:nvSpPr>
        <p:spPr bwMode="auto">
          <a:xfrm>
            <a:off x="4709160" y="2606040"/>
            <a:ext cx="4206240" cy="1508759"/>
          </a:xfrm>
          <a:prstGeom prst="rect">
            <a:avLst/>
          </a:prstGeom>
          <a:solidFill>
            <a:srgbClr val="1B2A4A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44891428" name="Text 12"/>
          <p:cNvSpPr/>
          <p:nvPr/>
        </p:nvSpPr>
        <p:spPr bwMode="auto">
          <a:xfrm>
            <a:off x="4846320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Class Imbalance Handled</a:t>
            </a:r>
            <a:endParaRPr lang="en-US" sz="1300"/>
          </a:p>
        </p:txBody>
      </p:sp>
      <p:sp>
        <p:nvSpPr>
          <p:cNvPr id="402519179" name="Text 13"/>
          <p:cNvSpPr/>
          <p:nvPr/>
        </p:nvSpPr>
        <p:spPr bwMode="auto">
          <a:xfrm>
            <a:off x="4846320" y="299923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Using scale_pos_weight, class_weight='balanced', and F1 as the primary metric ensured the minority class (churners) was properly addressed.</a:t>
            </a:r>
            <a:endParaRPr lang="en-US" sz="1100"/>
          </a:p>
        </p:txBody>
      </p:sp>
      <p:sp>
        <p:nvSpPr>
          <p:cNvPr id="390954944" name="Text 14"/>
          <p:cNvSpPr/>
          <p:nvPr/>
        </p:nvSpPr>
        <p:spPr bwMode="auto">
          <a:xfrm>
            <a:off x="274320" y="4279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Future Improvements</a:t>
            </a:r>
            <a:endParaRPr lang="en-US" sz="1200"/>
          </a:p>
        </p:txBody>
      </p:sp>
      <p:sp>
        <p:nvSpPr>
          <p:cNvPr id="1836631069" name="Text 15"/>
          <p:cNvSpPr/>
          <p:nvPr/>
        </p:nvSpPr>
        <p:spPr bwMode="auto">
          <a:xfrm>
            <a:off x="274320" y="454456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SMOTE oversampling  ·  SHAP explainability  ·  LightGBM benchmark  ·  Real-time API deployment with FastAPI  ·  Larger dataset experiment for DL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— ML &amp; DL Project</dc:title>
  <dc:subject>PptxGenJS Presentation</dc:subject>
  <dc:creator>PptxGenJS</dc:creator>
  <cp:lastModifiedBy/>
  <cp:revision>3</cp:revision>
  <dcterms:created xsi:type="dcterms:W3CDTF">2026-04-16T22:13:40Z</dcterms:created>
  <dcterms:modified xsi:type="dcterms:W3CDTF">2026-04-17T06:09:20Z</dcterms:modified>
</cp:coreProperties>
</file>